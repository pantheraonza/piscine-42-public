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</p:sldIdLst>
  <p:sldSz cx="7562850" cy="10690225"/>
  <p:notesSz cx="10690225" cy="756285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</a:t>
            </a:r>
            <a:r>
              <a:rPr b="0" lang="en-US" sz="2000" spc="-1" strike="noStrike">
                <a:latin typeface="Arial"/>
              </a:rPr>
              <a:t>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180BE04B-BBDB-4EEC-B05B-5CE84C4C77C4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39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610EB33-3D83-4A40-9289-C1B502BEEDD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39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244E26D-81CB-4B39-BB40-1AF287A1F83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40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7DD6380-4724-4C06-8B78-18EB35EAB46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40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1594719-6CDD-4D40-9106-435F471C5CE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40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CEC6930-4125-423E-BED5-3575A88B6E4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78000" y="426240"/>
            <a:ext cx="6805440" cy="178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378000" y="2501280"/>
            <a:ext cx="6805440" cy="619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78000" y="426240"/>
            <a:ext cx="6805440" cy="178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378000" y="2501280"/>
            <a:ext cx="6805440" cy="619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378000" y="426240"/>
            <a:ext cx="6805440" cy="178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378000" y="2501280"/>
            <a:ext cx="3321000" cy="619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3865320" y="2501280"/>
            <a:ext cx="3321000" cy="619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78000" y="426240"/>
            <a:ext cx="6805440" cy="178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378000" y="426240"/>
            <a:ext cx="6805440" cy="827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78000" y="426240"/>
            <a:ext cx="6805440" cy="178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378000" y="2501280"/>
            <a:ext cx="3321000" cy="29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3865320" y="2501280"/>
            <a:ext cx="3321000" cy="619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378000" y="5739120"/>
            <a:ext cx="3321000" cy="29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78000" y="426240"/>
            <a:ext cx="6805440" cy="178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378000" y="2501280"/>
            <a:ext cx="3321000" cy="619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3865320" y="2501280"/>
            <a:ext cx="3321000" cy="29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3865320" y="5739120"/>
            <a:ext cx="3321000" cy="29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78000" y="426240"/>
            <a:ext cx="6805440" cy="178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378000" y="2501280"/>
            <a:ext cx="3321000" cy="29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3865320" y="2501280"/>
            <a:ext cx="3321000" cy="29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378000" y="5739120"/>
            <a:ext cx="6805440" cy="29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78000" y="426240"/>
            <a:ext cx="6805440" cy="178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378000" y="2501280"/>
            <a:ext cx="6805440" cy="29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378000" y="5739120"/>
            <a:ext cx="6805440" cy="29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78000" y="426240"/>
            <a:ext cx="6805440" cy="178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378000" y="2501280"/>
            <a:ext cx="3321000" cy="29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3865320" y="2501280"/>
            <a:ext cx="3321000" cy="29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378000" y="5739120"/>
            <a:ext cx="3321000" cy="29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3865320" y="5739120"/>
            <a:ext cx="3321000" cy="29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78000" y="426240"/>
            <a:ext cx="6805440" cy="178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378000" y="2501280"/>
            <a:ext cx="2190960" cy="29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2678760" y="2501280"/>
            <a:ext cx="2190960" cy="29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4979880" y="2501280"/>
            <a:ext cx="2190960" cy="29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378000" y="5739120"/>
            <a:ext cx="2190960" cy="29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2678760" y="5739120"/>
            <a:ext cx="2190960" cy="29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4979880" y="5739120"/>
            <a:ext cx="2190960" cy="29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78000" y="426240"/>
            <a:ext cx="6805440" cy="178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378000" y="2501280"/>
            <a:ext cx="6805440" cy="619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78"/>
          <p:cNvSpPr/>
          <p:nvPr/>
        </p:nvSpPr>
        <p:spPr>
          <a:xfrm>
            <a:off x="502200" y="8264520"/>
            <a:ext cx="6555960" cy="969120"/>
          </a:xfrm>
          <a:prstGeom prst="rect">
            <a:avLst/>
          </a:prstGeom>
          <a:solidFill>
            <a:srgbClr val="f3f4f6"/>
          </a:solidFill>
          <a:ln w="1016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80"/>
          <p:cNvSpPr/>
          <p:nvPr/>
        </p:nvSpPr>
        <p:spPr>
          <a:xfrm>
            <a:off x="502200" y="8264520"/>
            <a:ext cx="273960" cy="9784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Shape 38"/>
          <p:cNvSpPr/>
          <p:nvPr/>
        </p:nvSpPr>
        <p:spPr>
          <a:xfrm>
            <a:off x="502920" y="7210080"/>
            <a:ext cx="6555960" cy="960120"/>
          </a:xfrm>
          <a:prstGeom prst="rect">
            <a:avLst/>
          </a:prstGeom>
          <a:solidFill>
            <a:srgbClr val="f3f4f6"/>
          </a:solidFill>
          <a:ln w="1016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Shape 39"/>
          <p:cNvSpPr/>
          <p:nvPr/>
        </p:nvSpPr>
        <p:spPr>
          <a:xfrm>
            <a:off x="502920" y="7210080"/>
            <a:ext cx="273960" cy="9601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Shape 68"/>
          <p:cNvSpPr/>
          <p:nvPr/>
        </p:nvSpPr>
        <p:spPr>
          <a:xfrm>
            <a:off x="502920" y="9308520"/>
            <a:ext cx="6555960" cy="969120"/>
          </a:xfrm>
          <a:prstGeom prst="rect">
            <a:avLst/>
          </a:prstGeom>
          <a:solidFill>
            <a:srgbClr val="f3f4f6"/>
          </a:solidFill>
          <a:ln w="1016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Shape 72"/>
          <p:cNvSpPr/>
          <p:nvPr/>
        </p:nvSpPr>
        <p:spPr>
          <a:xfrm>
            <a:off x="502920" y="9308520"/>
            <a:ext cx="273960" cy="9784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Text 0"/>
          <p:cNvSpPr/>
          <p:nvPr/>
        </p:nvSpPr>
        <p:spPr>
          <a:xfrm>
            <a:off x="502920" y="457200"/>
            <a:ext cx="6555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a1a2e"/>
                </a:solidFill>
                <a:latin typeface="Georgia"/>
                <a:ea typeface="Georgia"/>
              </a:rPr>
              <a:t>Skyscrapers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1a1a2e"/>
                </a:solidFill>
                <a:latin typeface="Georgia"/>
                <a:ea typeface="Georgia"/>
              </a:rPr>
              <a:t>Manual tecnico y flujo del programa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1" name="Shape 1"/>
          <p:cNvSpPr/>
          <p:nvPr/>
        </p:nvSpPr>
        <p:spPr>
          <a:xfrm>
            <a:off x="502920" y="1059480"/>
            <a:ext cx="6555960" cy="360"/>
          </a:xfrm>
          <a:prstGeom prst="line">
            <a:avLst/>
          </a:prstGeom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Text 2"/>
          <p:cNvSpPr/>
          <p:nvPr/>
        </p:nvSpPr>
        <p:spPr>
          <a:xfrm>
            <a:off x="502920" y="1422720"/>
            <a:ext cx="6555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374151"/>
                </a:solidFill>
                <a:latin typeface="Calibri"/>
                <a:ea typeface="Calibri"/>
              </a:rPr>
              <a:t>Objetivo: </a:t>
            </a:r>
            <a:r>
              <a:rPr b="0" lang="en-US" sz="1000" spc="-1" strike="noStrike">
                <a:solidFill>
                  <a:srgbClr val="374151"/>
                </a:solidFill>
                <a:latin typeface="Calibri"/>
                <a:ea typeface="Calibri"/>
              </a:rPr>
              <a:t>Rellenar el tablero para que todas las 16 pistas sean correctas. Solo existe una solución válida para cada pista.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374151"/>
                </a:solidFill>
                <a:latin typeface="Calibri"/>
                <a:ea typeface="Calibri"/>
              </a:rPr>
              <a:t>Las pistas: </a:t>
            </a:r>
            <a:r>
              <a:rPr b="0" lang="en-US" sz="1000" spc="-1" strike="noStrike">
                <a:solidFill>
                  <a:srgbClr val="374151"/>
                </a:solidFill>
                <a:latin typeface="Calibri"/>
                <a:ea typeface="Calibri"/>
              </a:rPr>
              <a:t>16 números alrededor del tablero (4 por cada lado). Cada pista indica cuántos edificios se ven desde esa posición mirando hacia dentro. Un edificio más alto tapa a todos los que están detrás.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3" name="Shape 3"/>
          <p:cNvSpPr/>
          <p:nvPr/>
        </p:nvSpPr>
        <p:spPr>
          <a:xfrm>
            <a:off x="502920" y="3027600"/>
            <a:ext cx="6555960" cy="968760"/>
          </a:xfrm>
          <a:prstGeom prst="rect">
            <a:avLst/>
          </a:prstGeom>
          <a:solidFill>
            <a:srgbClr val="f3f4f6"/>
          </a:solidFill>
          <a:ln w="1016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Shape 4"/>
          <p:cNvSpPr/>
          <p:nvPr/>
        </p:nvSpPr>
        <p:spPr>
          <a:xfrm>
            <a:off x="502920" y="3027600"/>
            <a:ext cx="273960" cy="968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Text 5"/>
          <p:cNvSpPr/>
          <p:nvPr/>
        </p:nvSpPr>
        <p:spPr>
          <a:xfrm>
            <a:off x="502920" y="3027600"/>
            <a:ext cx="273960" cy="11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6" name="Text 6"/>
          <p:cNvSpPr/>
          <p:nvPr/>
        </p:nvSpPr>
        <p:spPr>
          <a:xfrm>
            <a:off x="850320" y="3082320"/>
            <a:ext cx="6144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dc2626"/>
                </a:solidFill>
                <a:latin typeface="Calibri"/>
                <a:ea typeface="Calibri"/>
              </a:rPr>
              <a:t>Validar argumentos de la entrada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7" name="Text 7"/>
          <p:cNvSpPr/>
          <p:nvPr/>
        </p:nvSpPr>
        <p:spPr>
          <a:xfrm>
            <a:off x="850320" y="3283560"/>
            <a:ext cx="6144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b7280"/>
                </a:solidFill>
                <a:latin typeface="Courier New"/>
                <a:ea typeface="Courier New"/>
              </a:rPr>
              <a:t>Archivo: validar.c | 1 funcion: validar ()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58" name="Text 8"/>
          <p:cNvSpPr/>
          <p:nvPr/>
        </p:nvSpPr>
        <p:spPr>
          <a:xfrm>
            <a:off x="850320" y="3448080"/>
            <a:ext cx="6144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Recorre el string de char a char.  Comprueba que la entrada solo contiene el nome del programa y las pistas (argc==2) y que el string de las pistas tiene formato correcto: 16 dígitos 1-4 separados por espacios (longitud total de 31 caracteres).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59" name="Text 9"/>
          <p:cNvSpPr/>
          <p:nvPr/>
        </p:nvSpPr>
        <p:spPr>
          <a:xfrm>
            <a:off x="850320" y="3777840"/>
            <a:ext cx="6144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dc2626"/>
                </a:solidFill>
                <a:latin typeface="Calibri"/>
                <a:ea typeface="Calibri"/>
              </a:rPr>
              <a:t>→ </a:t>
            </a:r>
            <a:r>
              <a:rPr b="1" lang="en-US" sz="800" spc="-1" strike="noStrike">
                <a:solidFill>
                  <a:srgbClr val="dc2626"/>
                </a:solidFill>
                <a:latin typeface="Calibri"/>
                <a:ea typeface="Calibri"/>
              </a:rPr>
              <a:t>Si falla → Error con salto de linea ‘\n’ y termina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60" name="Shape 10"/>
          <p:cNvSpPr/>
          <p:nvPr/>
        </p:nvSpPr>
        <p:spPr>
          <a:xfrm>
            <a:off x="502920" y="4073040"/>
            <a:ext cx="6555960" cy="968760"/>
          </a:xfrm>
          <a:prstGeom prst="rect">
            <a:avLst/>
          </a:prstGeom>
          <a:solidFill>
            <a:srgbClr val="f3f4f6"/>
          </a:solidFill>
          <a:ln w="1016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Shape 11"/>
          <p:cNvSpPr/>
          <p:nvPr/>
        </p:nvSpPr>
        <p:spPr>
          <a:xfrm>
            <a:off x="502920" y="4073040"/>
            <a:ext cx="273960" cy="96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Text 12"/>
          <p:cNvSpPr/>
          <p:nvPr/>
        </p:nvSpPr>
        <p:spPr>
          <a:xfrm>
            <a:off x="502920" y="4134600"/>
            <a:ext cx="273960" cy="90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3" name="Text 13"/>
          <p:cNvSpPr/>
          <p:nvPr/>
        </p:nvSpPr>
        <p:spPr>
          <a:xfrm>
            <a:off x="850320" y="4127760"/>
            <a:ext cx="6144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2563eb"/>
                </a:solidFill>
                <a:latin typeface="Calibri"/>
                <a:ea typeface="Calibri"/>
              </a:rPr>
              <a:t>Extraer pistas de la entrada y parsearlas en un array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64" name="Text 14"/>
          <p:cNvSpPr/>
          <p:nvPr/>
        </p:nvSpPr>
        <p:spPr>
          <a:xfrm>
            <a:off x="850320" y="4329000"/>
            <a:ext cx="6144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b7280"/>
                </a:solidFill>
                <a:latin typeface="Courier New"/>
                <a:ea typeface="Courier New"/>
              </a:rPr>
              <a:t>Archivo: parsear.c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65" name="Text 15"/>
          <p:cNvSpPr/>
          <p:nvPr/>
        </p:nvSpPr>
        <p:spPr>
          <a:xfrm>
            <a:off x="850320" y="4493520"/>
            <a:ext cx="6144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Convierte el string con los caracteres de la pista (char) en un array de 16 enteros (int).</a:t>
            </a:r>
            <a:endParaRPr b="0" lang="en-US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Extrae los 16 dígitos con str[i*2]-'0' p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ara saltar espacios y convertir char a int. Envia las pistas para que se pueda compruebar la solución.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66" name="Text 16"/>
          <p:cNvSpPr/>
          <p:nvPr/>
        </p:nvSpPr>
        <p:spPr>
          <a:xfrm>
            <a:off x="873000" y="4848840"/>
            <a:ext cx="6144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2563eb"/>
                </a:solidFill>
                <a:latin typeface="Calibri"/>
                <a:ea typeface="Calibri"/>
              </a:rPr>
              <a:t>→ </a:t>
            </a:r>
            <a:r>
              <a:rPr b="1" lang="en-US" sz="800" spc="-1" strike="noStrike">
                <a:solidFill>
                  <a:srgbClr val="2563eb"/>
                </a:solidFill>
                <a:latin typeface="Calibri"/>
                <a:ea typeface="Calibri"/>
              </a:rPr>
              <a:t>Fórmula clave:  linea = posicion % 4. Para saber qué fila o columna recorrer se usa el módulo 4. Ejemplo: posicion=10 → linea=2 → fila 2.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67" name="Shape 17"/>
          <p:cNvSpPr/>
          <p:nvPr/>
        </p:nvSpPr>
        <p:spPr>
          <a:xfrm>
            <a:off x="502920" y="5118120"/>
            <a:ext cx="6555960" cy="969120"/>
          </a:xfrm>
          <a:prstGeom prst="rect">
            <a:avLst/>
          </a:prstGeom>
          <a:solidFill>
            <a:srgbClr val="f3f4f6"/>
          </a:solidFill>
          <a:ln w="1016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Shape 18"/>
          <p:cNvSpPr/>
          <p:nvPr/>
        </p:nvSpPr>
        <p:spPr>
          <a:xfrm>
            <a:off x="502920" y="5118120"/>
            <a:ext cx="273960" cy="9784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Text 19"/>
          <p:cNvSpPr/>
          <p:nvPr/>
        </p:nvSpPr>
        <p:spPr>
          <a:xfrm>
            <a:off x="502920" y="5118120"/>
            <a:ext cx="273960" cy="10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70" name="Text 20"/>
          <p:cNvSpPr/>
          <p:nvPr/>
        </p:nvSpPr>
        <p:spPr>
          <a:xfrm>
            <a:off x="850320" y="5173200"/>
            <a:ext cx="6144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ea580c"/>
                </a:solidFill>
                <a:latin typeface="Calibri"/>
                <a:ea typeface="Calibri"/>
              </a:rPr>
              <a:t>Gestionar memoria, crear e inicializar el tablero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71" name="Text 21"/>
          <p:cNvSpPr/>
          <p:nvPr/>
        </p:nvSpPr>
        <p:spPr>
          <a:xfrm>
            <a:off x="850320" y="5374080"/>
            <a:ext cx="6144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b7280"/>
                </a:solidFill>
                <a:latin typeface="Courier New"/>
                <a:ea typeface="Courier New"/>
              </a:rPr>
              <a:t>Archivo: matriz.c | 3 funciones: crear tablero(), imprimir() y liberar() 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72" name="Text 22"/>
          <p:cNvSpPr/>
          <p:nvPr/>
        </p:nvSpPr>
        <p:spPr>
          <a:xfrm>
            <a:off x="850320" y="5538960"/>
            <a:ext cx="6144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La funcion crear tablero() hace la gestión de memoria del tablero utilizando malloc 4×4. malloc inicializa el tablero sin poner ceros, solo con la gestion de un array de punteros en lla memoria — sin este paso tendriamos basura.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73" name="Text 23"/>
          <p:cNvSpPr/>
          <p:nvPr/>
        </p:nvSpPr>
        <p:spPr>
          <a:xfrm>
            <a:off x="850320" y="5868000"/>
            <a:ext cx="6144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ea580c"/>
                </a:solidFill>
                <a:latin typeface="Calibri"/>
                <a:ea typeface="Calibri"/>
              </a:rPr>
              <a:t>→ </a:t>
            </a:r>
            <a:r>
              <a:rPr b="1" lang="en-US" sz="800" spc="-1" strike="noStrike">
                <a:solidFill>
                  <a:srgbClr val="ea580c"/>
                </a:solidFill>
                <a:latin typeface="Calibri"/>
                <a:ea typeface="Calibri"/>
              </a:rPr>
              <a:t>tablero[4][4] listo con todo a 0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74" name="Shape 24"/>
          <p:cNvSpPr/>
          <p:nvPr/>
        </p:nvSpPr>
        <p:spPr>
          <a:xfrm>
            <a:off x="502920" y="6163560"/>
            <a:ext cx="6555960" cy="968760"/>
          </a:xfrm>
          <a:prstGeom prst="rect">
            <a:avLst/>
          </a:prstGeom>
          <a:solidFill>
            <a:srgbClr val="f3f4f6"/>
          </a:solidFill>
          <a:ln w="1016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Shape 25"/>
          <p:cNvSpPr/>
          <p:nvPr/>
        </p:nvSpPr>
        <p:spPr>
          <a:xfrm>
            <a:off x="502920" y="6163560"/>
            <a:ext cx="273960" cy="96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Text 26"/>
          <p:cNvSpPr/>
          <p:nvPr/>
        </p:nvSpPr>
        <p:spPr>
          <a:xfrm>
            <a:off x="502920" y="6163560"/>
            <a:ext cx="27396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77" name="Text 27"/>
          <p:cNvSpPr/>
          <p:nvPr/>
        </p:nvSpPr>
        <p:spPr>
          <a:xfrm>
            <a:off x="850320" y="6218280"/>
            <a:ext cx="6144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7c3aed"/>
                </a:solidFill>
                <a:latin typeface="Calibri"/>
                <a:ea typeface="Calibri"/>
              </a:rPr>
              <a:t>Backtracking (encontrar la solucion del problema con las pistas de la entrada)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78" name="Text 28"/>
          <p:cNvSpPr/>
          <p:nvPr/>
        </p:nvSpPr>
        <p:spPr>
          <a:xfrm>
            <a:off x="850320" y="6419520"/>
            <a:ext cx="6144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b7280"/>
                </a:solidFill>
                <a:latin typeface="Courier New"/>
                <a:ea typeface="Courier New"/>
              </a:rPr>
              <a:t>Archivo: solucionar.c | 2 funciones: solucionar() y posicionar()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79" name="Text 29"/>
          <p:cNvSpPr/>
          <p:nvPr/>
        </p:nvSpPr>
        <p:spPr>
          <a:xfrm>
            <a:off x="850320" y="6584040"/>
            <a:ext cx="6144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La funcion solucionar() es un backtracking recursivo: recorre las 16 celdas del tablero probando entre 1 y 4. Sin solucion: retrocede.</a:t>
            </a:r>
            <a:endParaRPr b="0" lang="en-US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La funcion posicionar() valida, coloca el numero en su celda y avanza. Comprueba que n existe ya en la fila I y columna j.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80" name="Text 30"/>
          <p:cNvSpPr/>
          <p:nvPr/>
        </p:nvSpPr>
        <p:spPr>
          <a:xfrm>
            <a:off x="850320" y="6935040"/>
            <a:ext cx="6144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7c3aed"/>
                </a:solidFill>
                <a:latin typeface="Calibri"/>
                <a:ea typeface="Calibri"/>
              </a:rPr>
              <a:t>→ </a:t>
            </a:r>
            <a:r>
              <a:rPr b="1" lang="en-US" sz="800" spc="-1" strike="noStrike">
                <a:solidFill>
                  <a:srgbClr val="7c3aed"/>
                </a:solidFill>
                <a:latin typeface="Calibri"/>
                <a:ea typeface="Calibri"/>
              </a:rPr>
              <a:t>return 1 si solución, 0 si no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81" name="Text 33"/>
          <p:cNvSpPr/>
          <p:nvPr/>
        </p:nvSpPr>
        <p:spPr>
          <a:xfrm>
            <a:off x="502920" y="7174080"/>
            <a:ext cx="273960" cy="96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2" name="Text 34"/>
          <p:cNvSpPr/>
          <p:nvPr/>
        </p:nvSpPr>
        <p:spPr>
          <a:xfrm>
            <a:off x="840600" y="7229160"/>
            <a:ext cx="6144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a933"/>
                </a:solidFill>
                <a:latin typeface="Calibri"/>
                <a:ea typeface="Calibri"/>
              </a:rPr>
              <a:t>Verificar si la solucion es valida cuando comparada con las pistas</a:t>
            </a:r>
            <a:endParaRPr b="0" lang="en-US" sz="1000" spc="-1" strike="noStrike">
              <a:solidFill>
                <a:srgbClr val="00a933"/>
              </a:solidFill>
              <a:latin typeface="Arial"/>
            </a:endParaRPr>
          </a:p>
        </p:txBody>
      </p:sp>
      <p:sp>
        <p:nvSpPr>
          <p:cNvPr id="83" name="Text 35"/>
          <p:cNvSpPr/>
          <p:nvPr/>
        </p:nvSpPr>
        <p:spPr>
          <a:xfrm>
            <a:off x="840600" y="7430400"/>
            <a:ext cx="6144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b7280"/>
                </a:solidFill>
                <a:latin typeface="Courier New"/>
                <a:ea typeface="Courier New"/>
              </a:rPr>
              <a:t>Archivo: comprobar.c | 5 funciones: comprobar() y “hijas” por direccion arriba/abajo, izq/der.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84" name="Text 36"/>
          <p:cNvSpPr/>
          <p:nvPr/>
        </p:nvSpPr>
        <p:spPr>
          <a:xfrm>
            <a:off x="840600" y="7594920"/>
            <a:ext cx="6144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374151"/>
                </a:solidFill>
                <a:latin typeface="Calibri"/>
                <a:ea typeface="Calibri"/>
              </a:rPr>
              <a:t>Calcula linea=posicion%4. Llama a la subfunción correcta. Compara resultado con pistas[posicion].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Al llegar a posicion==16, llama a comprueba() 16 veces. Cada llamada cuenta edificios visibles y compara con pistas[].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85" name="Text 37"/>
          <p:cNvSpPr/>
          <p:nvPr/>
        </p:nvSpPr>
        <p:spPr>
          <a:xfrm>
            <a:off x="840600" y="7967880"/>
            <a:ext cx="6144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0a933"/>
                </a:solidFill>
                <a:latin typeface="Calibri"/>
                <a:ea typeface="Calibri"/>
              </a:rPr>
              <a:t>→ </a:t>
            </a:r>
            <a:r>
              <a:rPr b="1" lang="en-US" sz="800" spc="-1" strike="noStrike">
                <a:solidFill>
                  <a:srgbClr val="00a933"/>
                </a:solidFill>
                <a:latin typeface="Calibri"/>
                <a:ea typeface="Calibri"/>
              </a:rPr>
              <a:t>Todas deben coincidir para pasar</a:t>
            </a:r>
            <a:endParaRPr b="0" lang="en-US" sz="800" spc="-1" strike="noStrike">
              <a:solidFill>
                <a:srgbClr val="00a933"/>
              </a:solidFill>
              <a:latin typeface="Arial"/>
            </a:endParaRPr>
          </a:p>
        </p:txBody>
      </p:sp>
      <p:sp>
        <p:nvSpPr>
          <p:cNvPr id="86" name="Text 40"/>
          <p:cNvSpPr/>
          <p:nvPr/>
        </p:nvSpPr>
        <p:spPr>
          <a:xfrm>
            <a:off x="502920" y="8254080"/>
            <a:ext cx="273960" cy="99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6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7" name="Text 41"/>
          <p:cNvSpPr/>
          <p:nvPr/>
        </p:nvSpPr>
        <p:spPr>
          <a:xfrm>
            <a:off x="850320" y="8308800"/>
            <a:ext cx="6144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8000"/>
                </a:solidFill>
                <a:latin typeface="Calibri"/>
                <a:ea typeface="Calibri"/>
              </a:rPr>
              <a:t>Imprimir solución</a:t>
            </a:r>
            <a:endParaRPr b="0" lang="en-US" sz="1000" spc="-1" strike="noStrike">
              <a:solidFill>
                <a:srgbClr val="ff8000"/>
              </a:solidFill>
              <a:latin typeface="Arial"/>
            </a:endParaRPr>
          </a:p>
        </p:txBody>
      </p:sp>
      <p:sp>
        <p:nvSpPr>
          <p:cNvPr id="88" name="Text 42"/>
          <p:cNvSpPr/>
          <p:nvPr/>
        </p:nvSpPr>
        <p:spPr>
          <a:xfrm>
            <a:off x="850320" y="8510040"/>
            <a:ext cx="6144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b7280"/>
                </a:solidFill>
                <a:latin typeface="Courier New"/>
                <a:ea typeface="Courier New"/>
              </a:rPr>
              <a:t>Archivo: matriz.c | 3 funciones: crear tablero(), imprimir() y liberar()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89" name="Text 43"/>
          <p:cNvSpPr/>
          <p:nvPr/>
        </p:nvSpPr>
        <p:spPr>
          <a:xfrm>
            <a:off x="850320" y="8674560"/>
            <a:ext cx="6144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Doble bucle, convierte int a char con +'0' (el reves de la fase inicial de pasear. Escribe con write() porque printf esta prohibido.</a:t>
            </a:r>
            <a:endParaRPr b="0" lang="en-US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Si no hay solución, escribe Error.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90" name="Text 44"/>
          <p:cNvSpPr/>
          <p:nvPr/>
        </p:nvSpPr>
        <p:spPr>
          <a:xfrm>
            <a:off x="850320" y="9050040"/>
            <a:ext cx="6144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ff8000"/>
                </a:solidFill>
                <a:latin typeface="Calibri"/>
                <a:ea typeface="Calibri"/>
              </a:rPr>
              <a:t>→ </a:t>
            </a:r>
            <a:r>
              <a:rPr b="1" lang="en-US" sz="800" spc="-1" strike="noStrike">
                <a:solidFill>
                  <a:srgbClr val="ff8000"/>
                </a:solidFill>
                <a:latin typeface="Calibri"/>
                <a:ea typeface="Calibri"/>
              </a:rPr>
              <a:t>Números separados por espacios + \n</a:t>
            </a:r>
            <a:endParaRPr b="0" lang="en-US" sz="800" spc="-1" strike="noStrike">
              <a:solidFill>
                <a:srgbClr val="ff8000"/>
              </a:solidFill>
              <a:latin typeface="Arial"/>
            </a:endParaRPr>
          </a:p>
        </p:txBody>
      </p:sp>
      <p:sp>
        <p:nvSpPr>
          <p:cNvPr id="91" name="Text 47"/>
          <p:cNvSpPr/>
          <p:nvPr/>
        </p:nvSpPr>
        <p:spPr>
          <a:xfrm>
            <a:off x="502920" y="9299520"/>
            <a:ext cx="27396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7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2" name="Text 48"/>
          <p:cNvSpPr/>
          <p:nvPr/>
        </p:nvSpPr>
        <p:spPr>
          <a:xfrm>
            <a:off x="850320" y="9354240"/>
            <a:ext cx="6144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Liberar memoria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93" name="Text 49"/>
          <p:cNvSpPr/>
          <p:nvPr/>
        </p:nvSpPr>
        <p:spPr>
          <a:xfrm>
            <a:off x="850320" y="9555480"/>
            <a:ext cx="6144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b7280"/>
                </a:solidFill>
                <a:latin typeface="Courier New"/>
                <a:ea typeface="Courier New"/>
              </a:rPr>
              <a:t>Archivo: matriz.c | 3 funciones: crear tablero(), imprimir() y liberar()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94" name="Text 50"/>
          <p:cNvSpPr/>
          <p:nvPr/>
        </p:nvSpPr>
        <p:spPr>
          <a:xfrm>
            <a:off x="850320" y="9720000"/>
            <a:ext cx="6144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free() de cada fila, luego free() del array de punteros. Siempre en orden inverso al de creación.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95" name="Text 51"/>
          <p:cNvSpPr/>
          <p:nvPr/>
        </p:nvSpPr>
        <p:spPr>
          <a:xfrm>
            <a:off x="850320" y="10011240"/>
            <a:ext cx="6144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6b7280"/>
                </a:solidFill>
                <a:latin typeface="Calibri"/>
                <a:ea typeface="Calibri"/>
              </a:rPr>
              <a:t>→ </a:t>
            </a:r>
            <a:r>
              <a:rPr b="1" lang="en-US" sz="800" spc="-1" strike="noStrike">
                <a:solidFill>
                  <a:srgbClr val="6b7280"/>
                </a:solidFill>
                <a:latin typeface="Calibri"/>
                <a:ea typeface="Calibri"/>
              </a:rPr>
              <a:t>Obligatorio — evita memory leaks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96" name="Text 52"/>
          <p:cNvSpPr/>
          <p:nvPr/>
        </p:nvSpPr>
        <p:spPr>
          <a:xfrm>
            <a:off x="502920" y="10396800"/>
            <a:ext cx="3277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00" spc="-1" strike="noStrike">
                <a:solidFill>
                  <a:srgbClr val="6b7280"/>
                </a:solidFill>
                <a:latin typeface="Calibri"/>
                <a:ea typeface="Calibri"/>
              </a:rPr>
              <a:t>Rush 01 — Skyscrapers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97" name="Text 53"/>
          <p:cNvSpPr/>
          <p:nvPr/>
        </p:nvSpPr>
        <p:spPr>
          <a:xfrm>
            <a:off x="3781080" y="10396800"/>
            <a:ext cx="3277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00" spc="-1" strike="noStrike">
                <a:solidFill>
                  <a:srgbClr val="6b7280"/>
                </a:solidFill>
                <a:latin typeface="Calibri"/>
                <a:ea typeface="Calibri"/>
              </a:rPr>
              <a:t>Página 3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98" name="Shape 54"/>
          <p:cNvSpPr/>
          <p:nvPr/>
        </p:nvSpPr>
        <p:spPr>
          <a:xfrm>
            <a:off x="502920" y="10378440"/>
            <a:ext cx="6555960" cy="360"/>
          </a:xfrm>
          <a:prstGeom prst="line">
            <a:avLst/>
          </a:prstGeom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Text 97"/>
          <p:cNvSpPr/>
          <p:nvPr/>
        </p:nvSpPr>
        <p:spPr>
          <a:xfrm>
            <a:off x="849600" y="9354240"/>
            <a:ext cx="6144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8000"/>
                </a:solidFill>
                <a:latin typeface="Calibri"/>
                <a:ea typeface="Calibri"/>
              </a:rPr>
              <a:t>Liberar memoria</a:t>
            </a:r>
            <a:endParaRPr b="0" lang="en-US" sz="1000" spc="-1" strike="noStrike">
              <a:solidFill>
                <a:srgbClr val="ff8000"/>
              </a:solidFill>
              <a:latin typeface="Arial"/>
            </a:endParaRPr>
          </a:p>
        </p:txBody>
      </p:sp>
      <p:sp>
        <p:nvSpPr>
          <p:cNvPr id="100" name="Text 99"/>
          <p:cNvSpPr/>
          <p:nvPr/>
        </p:nvSpPr>
        <p:spPr>
          <a:xfrm>
            <a:off x="849600" y="9720000"/>
            <a:ext cx="6144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fr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e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e(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)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d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e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c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a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d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a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fil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a,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lu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e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g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o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fr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e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e(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)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d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el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c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o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n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te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n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e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d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or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,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el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ar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ra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y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d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e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p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u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n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te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r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o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s.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Si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e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m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p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re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e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n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o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r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d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e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n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in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v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er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s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o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al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d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e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cr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e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a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ci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ó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n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101" name="Text 100"/>
          <p:cNvSpPr/>
          <p:nvPr/>
        </p:nvSpPr>
        <p:spPr>
          <a:xfrm>
            <a:off x="849600" y="10011240"/>
            <a:ext cx="6144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ff8000"/>
                </a:solidFill>
                <a:latin typeface="Calibri"/>
                <a:ea typeface="Calibri"/>
              </a:rPr>
              <a:t>→ </a:t>
            </a:r>
            <a:r>
              <a:rPr b="1" lang="en-US" sz="800" spc="-1" strike="noStrike">
                <a:solidFill>
                  <a:srgbClr val="ff8000"/>
                </a:solidFill>
                <a:latin typeface="Calibri"/>
                <a:ea typeface="Calibri"/>
              </a:rPr>
              <a:t>Obligator</a:t>
            </a:r>
            <a:r>
              <a:rPr b="1" lang="en-US" sz="800" spc="-1" strike="noStrike">
                <a:solidFill>
                  <a:srgbClr val="ff8000"/>
                </a:solidFill>
                <a:latin typeface="Calibri"/>
                <a:ea typeface="Calibri"/>
              </a:rPr>
              <a:t>io — </a:t>
            </a:r>
            <a:r>
              <a:rPr b="1" lang="en-US" sz="800" spc="-1" strike="noStrike">
                <a:solidFill>
                  <a:srgbClr val="ff8000"/>
                </a:solidFill>
                <a:latin typeface="Calibri"/>
                <a:ea typeface="Calibri"/>
              </a:rPr>
              <a:t>evita </a:t>
            </a:r>
            <a:r>
              <a:rPr b="1" lang="en-US" sz="800" spc="-1" strike="noStrike">
                <a:solidFill>
                  <a:srgbClr val="ff8000"/>
                </a:solidFill>
                <a:latin typeface="Calibri"/>
                <a:ea typeface="Calibri"/>
              </a:rPr>
              <a:t>memory </a:t>
            </a:r>
            <a:r>
              <a:rPr b="1" lang="en-US" sz="800" spc="-1" strike="noStrike">
                <a:solidFill>
                  <a:srgbClr val="ff8000"/>
                </a:solidFill>
                <a:latin typeface="Calibri"/>
                <a:ea typeface="Calibri"/>
              </a:rPr>
              <a:t>leaks</a:t>
            </a:r>
            <a:endParaRPr b="0" lang="en-US" sz="800" spc="-1" strike="noStrike">
              <a:solidFill>
                <a:srgbClr val="ff8000"/>
              </a:solidFill>
              <a:latin typeface="Arial"/>
            </a:endParaRPr>
          </a:p>
        </p:txBody>
      </p:sp>
      <p:sp>
        <p:nvSpPr>
          <p:cNvPr id="102" name="Shape 74"/>
          <p:cNvSpPr/>
          <p:nvPr/>
        </p:nvSpPr>
        <p:spPr>
          <a:xfrm>
            <a:off x="507240" y="1974960"/>
            <a:ext cx="6555960" cy="968760"/>
          </a:xfrm>
          <a:prstGeom prst="rect">
            <a:avLst/>
          </a:prstGeom>
          <a:solidFill>
            <a:srgbClr val="f3f4f6"/>
          </a:solidFill>
          <a:ln w="10160">
            <a:solidFill>
              <a:srgbClr val="6b728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Shape 76"/>
          <p:cNvSpPr/>
          <p:nvPr/>
        </p:nvSpPr>
        <p:spPr>
          <a:xfrm>
            <a:off x="507240" y="1974960"/>
            <a:ext cx="273960" cy="96876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Text 101"/>
          <p:cNvSpPr/>
          <p:nvPr/>
        </p:nvSpPr>
        <p:spPr>
          <a:xfrm>
            <a:off x="507240" y="1974960"/>
            <a:ext cx="27396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5" name="Text 102"/>
          <p:cNvSpPr/>
          <p:nvPr/>
        </p:nvSpPr>
        <p:spPr>
          <a:xfrm>
            <a:off x="854640" y="2029680"/>
            <a:ext cx="6144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Inicializar programa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6" name="Text 103"/>
          <p:cNvSpPr/>
          <p:nvPr/>
        </p:nvSpPr>
        <p:spPr>
          <a:xfrm>
            <a:off x="854640" y="2230920"/>
            <a:ext cx="6144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b7280"/>
                </a:solidFill>
                <a:latin typeface="Courier New"/>
                <a:ea typeface="Courier New"/>
              </a:rPr>
              <a:t>Archivo: main.c | 1 funcion: main ()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07" name="Text 104"/>
          <p:cNvSpPr/>
          <p:nvPr/>
        </p:nvSpPr>
        <p:spPr>
          <a:xfrm>
            <a:off x="854640" y="2395440"/>
            <a:ext cx="6144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Punto de entrada. Orquesta todo: valida, parsea, crea tablero, lanza backtracking, imprime y libera.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108" name="Text 105"/>
          <p:cNvSpPr/>
          <p:nvPr/>
        </p:nvSpPr>
        <p:spPr>
          <a:xfrm>
            <a:off x="854640" y="2686680"/>
            <a:ext cx="6144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6b7280"/>
                </a:solidFill>
                <a:latin typeface="Calibri"/>
                <a:ea typeface="Calibri"/>
              </a:rPr>
              <a:t>→ </a:t>
            </a:r>
            <a:r>
              <a:rPr b="1" lang="en-US" sz="800" spc="-1" strike="noStrike">
                <a:solidFill>
                  <a:srgbClr val="6b7280"/>
                </a:solidFill>
                <a:latin typeface="Calibri"/>
                <a:ea typeface="Calibri"/>
              </a:rPr>
              <a:t>Obligatorio — evita memory leaks</a:t>
            </a:r>
            <a:endParaRPr b="0" lang="en-US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 0"/>
          <p:cNvSpPr/>
          <p:nvPr/>
        </p:nvSpPr>
        <p:spPr>
          <a:xfrm>
            <a:off x="502920" y="457200"/>
            <a:ext cx="6555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1a1a2e"/>
                </a:solidFill>
                <a:latin typeface="Georgia"/>
                <a:ea typeface="Georgia"/>
              </a:rPr>
              <a:t>solucionar.c — Backtracking recursivo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10" name="Shape 1"/>
          <p:cNvSpPr/>
          <p:nvPr/>
        </p:nvSpPr>
        <p:spPr>
          <a:xfrm>
            <a:off x="502920" y="987480"/>
            <a:ext cx="6555960" cy="360"/>
          </a:xfrm>
          <a:prstGeom prst="line">
            <a:avLst/>
          </a:prstGeom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Text 2"/>
          <p:cNvSpPr/>
          <p:nvPr/>
        </p:nvSpPr>
        <p:spPr>
          <a:xfrm>
            <a:off x="502920" y="1097280"/>
            <a:ext cx="6555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El corazón del programa. Rellena el tablero celda a celda explorando todas las posibilidades.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2" name="Text 3"/>
          <p:cNvSpPr/>
          <p:nvPr/>
        </p:nvSpPr>
        <p:spPr>
          <a:xfrm>
            <a:off x="502920" y="1371600"/>
            <a:ext cx="6555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a1a2e"/>
                </a:solidFill>
                <a:latin typeface="Calibri"/>
                <a:ea typeface="Calibri"/>
              </a:rPr>
              <a:t>Pseudocódigo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3" name="Shape 4"/>
          <p:cNvSpPr/>
          <p:nvPr/>
        </p:nvSpPr>
        <p:spPr>
          <a:xfrm>
            <a:off x="502920" y="1627560"/>
            <a:ext cx="6555960" cy="37670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Text 5"/>
          <p:cNvSpPr/>
          <p:nvPr/>
        </p:nvSpPr>
        <p:spPr>
          <a:xfrm>
            <a:off x="594360" y="1700640"/>
            <a:ext cx="63730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2563eb"/>
                </a:solidFill>
                <a:latin typeface="Courier New"/>
                <a:ea typeface="Courier New"/>
              </a:rPr>
              <a:t>solucionar(tablero, posicion, pistas)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15" name="Text 6"/>
          <p:cNvSpPr/>
          <p:nvPr/>
        </p:nvSpPr>
        <p:spPr>
          <a:xfrm>
            <a:off x="594360" y="2103120"/>
            <a:ext cx="63730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16a34a"/>
                </a:solidFill>
                <a:latin typeface="Courier New"/>
                <a:ea typeface="Courier New"/>
              </a:rPr>
              <a:t>  </a:t>
            </a:r>
            <a:r>
              <a:rPr b="0" lang="en-US" sz="900" spc="-1" strike="noStrike">
                <a:solidFill>
                  <a:srgbClr val="16a34a"/>
                </a:solidFill>
                <a:latin typeface="Courier New"/>
                <a:ea typeface="Courier New"/>
              </a:rPr>
              <a:t>si posicion == 16:                    // tablero completo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16" name="Text 7"/>
          <p:cNvSpPr/>
          <p:nvPr/>
        </p:nvSpPr>
        <p:spPr>
          <a:xfrm>
            <a:off x="594360" y="2304360"/>
            <a:ext cx="63730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374151"/>
                </a:solidFill>
                <a:latin typeface="Courier New"/>
                <a:ea typeface="Courier New"/>
              </a:rPr>
              <a:t>    </a:t>
            </a:r>
            <a:r>
              <a:rPr b="0" lang="en-US" sz="900" spc="-1" strike="noStrike">
                <a:solidFill>
                  <a:srgbClr val="374151"/>
                </a:solidFill>
                <a:latin typeface="Courier New"/>
                <a:ea typeface="Courier New"/>
              </a:rPr>
              <a:t>para p de 0 a 15: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17" name="Text 8"/>
          <p:cNvSpPr/>
          <p:nvPr/>
        </p:nvSpPr>
        <p:spPr>
          <a:xfrm>
            <a:off x="594360" y="2505600"/>
            <a:ext cx="63730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dc2626"/>
                </a:solidFill>
                <a:latin typeface="Courier New"/>
                <a:ea typeface="Courier New"/>
              </a:rPr>
              <a:t>      </a:t>
            </a:r>
            <a:r>
              <a:rPr b="0" lang="en-US" sz="900" spc="-1" strike="noStrike">
                <a:solidFill>
                  <a:srgbClr val="dc2626"/>
                </a:solidFill>
                <a:latin typeface="Courier New"/>
                <a:ea typeface="Courier New"/>
              </a:rPr>
              <a:t>si !comprueba(pistas, tablero, p)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18" name="Text 9"/>
          <p:cNvSpPr/>
          <p:nvPr/>
        </p:nvSpPr>
        <p:spPr>
          <a:xfrm>
            <a:off x="594360" y="2706480"/>
            <a:ext cx="63730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dc2626"/>
                </a:solidFill>
                <a:latin typeface="Courier New"/>
                <a:ea typeface="Courier New"/>
              </a:rPr>
              <a:t>        </a:t>
            </a:r>
            <a:r>
              <a:rPr b="0" lang="en-US" sz="900" spc="-1" strike="noStrike">
                <a:solidFill>
                  <a:srgbClr val="dc2626"/>
                </a:solidFill>
                <a:latin typeface="Courier New"/>
                <a:ea typeface="Courier New"/>
              </a:rPr>
              <a:t>return 0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19" name="Text 10"/>
          <p:cNvSpPr/>
          <p:nvPr/>
        </p:nvSpPr>
        <p:spPr>
          <a:xfrm>
            <a:off x="594360" y="2907720"/>
            <a:ext cx="63730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16a34a"/>
                </a:solidFill>
                <a:latin typeface="Courier New"/>
                <a:ea typeface="Courier New"/>
              </a:rPr>
              <a:t>    </a:t>
            </a:r>
            <a:r>
              <a:rPr b="0" lang="en-US" sz="900" spc="-1" strike="noStrike">
                <a:solidFill>
                  <a:srgbClr val="16a34a"/>
                </a:solidFill>
                <a:latin typeface="Courier New"/>
                <a:ea typeface="Courier New"/>
              </a:rPr>
              <a:t>return 1                            // SOLUCIÓN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20" name="Text 11"/>
          <p:cNvSpPr/>
          <p:nvPr/>
        </p:nvSpPr>
        <p:spPr>
          <a:xfrm>
            <a:off x="594360" y="3310200"/>
            <a:ext cx="63730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7c3aed"/>
                </a:solidFill>
                <a:latin typeface="Courier New"/>
                <a:ea typeface="Courier New"/>
              </a:rPr>
              <a:t>  </a:t>
            </a:r>
            <a:r>
              <a:rPr b="0" lang="en-US" sz="900" spc="-1" strike="noStrike">
                <a:solidFill>
                  <a:srgbClr val="7c3aed"/>
                </a:solidFill>
                <a:latin typeface="Courier New"/>
                <a:ea typeface="Courier New"/>
              </a:rPr>
              <a:t>i = posicion / 4   // fila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21" name="Text 12"/>
          <p:cNvSpPr/>
          <p:nvPr/>
        </p:nvSpPr>
        <p:spPr>
          <a:xfrm>
            <a:off x="594360" y="3511440"/>
            <a:ext cx="63730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7c3aed"/>
                </a:solidFill>
                <a:latin typeface="Courier New"/>
                <a:ea typeface="Courier New"/>
              </a:rPr>
              <a:t>  </a:t>
            </a:r>
            <a:r>
              <a:rPr b="0" lang="en-US" sz="900" spc="-1" strike="noStrike">
                <a:solidFill>
                  <a:srgbClr val="7c3aed"/>
                </a:solidFill>
                <a:latin typeface="Courier New"/>
                <a:ea typeface="Courier New"/>
              </a:rPr>
              <a:t>j = posicion % 4   // columna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22" name="Text 13"/>
          <p:cNvSpPr/>
          <p:nvPr/>
        </p:nvSpPr>
        <p:spPr>
          <a:xfrm>
            <a:off x="594360" y="3913560"/>
            <a:ext cx="63730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374151"/>
                </a:solidFill>
                <a:latin typeface="Courier New"/>
                <a:ea typeface="Courier New"/>
              </a:rPr>
              <a:t>  </a:t>
            </a:r>
            <a:r>
              <a:rPr b="0" lang="en-US" sz="900" spc="-1" strike="noStrike">
                <a:solidFill>
                  <a:srgbClr val="374151"/>
                </a:solidFill>
                <a:latin typeface="Courier New"/>
                <a:ea typeface="Courier New"/>
              </a:rPr>
              <a:t>para n de 1 a 4: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23" name="Text 14"/>
          <p:cNvSpPr/>
          <p:nvPr/>
        </p:nvSpPr>
        <p:spPr>
          <a:xfrm>
            <a:off x="594360" y="4114800"/>
            <a:ext cx="63730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374151"/>
                </a:solidFill>
                <a:latin typeface="Courier New"/>
                <a:ea typeface="Courier New"/>
              </a:rPr>
              <a:t>    </a:t>
            </a:r>
            <a:r>
              <a:rPr b="0" lang="en-US" sz="900" spc="-1" strike="noStrike">
                <a:solidFill>
                  <a:srgbClr val="374151"/>
                </a:solidFill>
                <a:latin typeface="Courier New"/>
                <a:ea typeface="Courier New"/>
              </a:rPr>
              <a:t>si posicionar(tablero, i, j, n):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24" name="Text 15"/>
          <p:cNvSpPr/>
          <p:nvPr/>
        </p:nvSpPr>
        <p:spPr>
          <a:xfrm>
            <a:off x="594360" y="4316040"/>
            <a:ext cx="63730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374151"/>
                </a:solidFill>
                <a:latin typeface="Courier New"/>
                <a:ea typeface="Courier New"/>
              </a:rPr>
              <a:t>      </a:t>
            </a:r>
            <a:r>
              <a:rPr b="0" lang="en-US" sz="900" spc="-1" strike="noStrike">
                <a:solidFill>
                  <a:srgbClr val="374151"/>
                </a:solidFill>
                <a:latin typeface="Courier New"/>
                <a:ea typeface="Courier New"/>
              </a:rPr>
              <a:t>tablero[i][j] = n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25" name="Text 16"/>
          <p:cNvSpPr/>
          <p:nvPr/>
        </p:nvSpPr>
        <p:spPr>
          <a:xfrm>
            <a:off x="594360" y="4517280"/>
            <a:ext cx="63730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374151"/>
                </a:solidFill>
                <a:latin typeface="Courier New"/>
                <a:ea typeface="Courier New"/>
              </a:rPr>
              <a:t>      </a:t>
            </a:r>
            <a:r>
              <a:rPr b="0" lang="en-US" sz="900" spc="-1" strike="noStrike">
                <a:solidFill>
                  <a:srgbClr val="374151"/>
                </a:solidFill>
                <a:latin typeface="Courier New"/>
                <a:ea typeface="Courier New"/>
              </a:rPr>
              <a:t>si solucionar(tablero, posicion+1, pistas):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26" name="Text 17"/>
          <p:cNvSpPr/>
          <p:nvPr/>
        </p:nvSpPr>
        <p:spPr>
          <a:xfrm>
            <a:off x="594360" y="4718160"/>
            <a:ext cx="63730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16a34a"/>
                </a:solidFill>
                <a:latin typeface="Courier New"/>
                <a:ea typeface="Courier New"/>
              </a:rPr>
              <a:t>        </a:t>
            </a:r>
            <a:r>
              <a:rPr b="0" lang="en-US" sz="900" spc="-1" strike="noStrike">
                <a:solidFill>
                  <a:srgbClr val="16a34a"/>
                </a:solidFill>
                <a:latin typeface="Courier New"/>
                <a:ea typeface="Courier New"/>
              </a:rPr>
              <a:t>return 1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27" name="Text 18"/>
          <p:cNvSpPr/>
          <p:nvPr/>
        </p:nvSpPr>
        <p:spPr>
          <a:xfrm>
            <a:off x="594360" y="4919400"/>
            <a:ext cx="63730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dc2626"/>
                </a:solidFill>
                <a:latin typeface="Courier New"/>
                <a:ea typeface="Courier New"/>
              </a:rPr>
              <a:t>      </a:t>
            </a:r>
            <a:r>
              <a:rPr b="0" lang="en-US" sz="900" spc="-1" strike="noStrike">
                <a:solidFill>
                  <a:srgbClr val="dc2626"/>
                </a:solidFill>
                <a:latin typeface="Courier New"/>
                <a:ea typeface="Courier New"/>
              </a:rPr>
              <a:t>tablero[i][j] = 0  // DESHACER (backtrack)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28" name="Text 19"/>
          <p:cNvSpPr/>
          <p:nvPr/>
        </p:nvSpPr>
        <p:spPr>
          <a:xfrm>
            <a:off x="594360" y="5120640"/>
            <a:ext cx="63730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dc2626"/>
                </a:solidFill>
                <a:latin typeface="Courier New"/>
                <a:ea typeface="Courier New"/>
              </a:rPr>
              <a:t>  </a:t>
            </a:r>
            <a:r>
              <a:rPr b="0" lang="en-US" sz="900" spc="-1" strike="noStrike">
                <a:solidFill>
                  <a:srgbClr val="dc2626"/>
                </a:solidFill>
                <a:latin typeface="Courier New"/>
                <a:ea typeface="Courier New"/>
              </a:rPr>
              <a:t>return 0               // sin solución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29" name="Shape 20"/>
          <p:cNvSpPr/>
          <p:nvPr/>
        </p:nvSpPr>
        <p:spPr>
          <a:xfrm>
            <a:off x="502920" y="5504760"/>
            <a:ext cx="6555960" cy="603000"/>
          </a:xfrm>
          <a:prstGeom prst="rect">
            <a:avLst/>
          </a:prstGeom>
          <a:solidFill>
            <a:srgbClr val="dbeafe"/>
          </a:solidFill>
          <a:ln w="1016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Shape 21"/>
          <p:cNvSpPr/>
          <p:nvPr/>
        </p:nvSpPr>
        <p:spPr>
          <a:xfrm>
            <a:off x="502920" y="5504760"/>
            <a:ext cx="54360" cy="60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Text 22"/>
          <p:cNvSpPr/>
          <p:nvPr/>
        </p:nvSpPr>
        <p:spPr>
          <a:xfrm>
            <a:off x="612720" y="5596200"/>
            <a:ext cx="6391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2563eb"/>
                </a:solidFill>
                <a:latin typeface="Calibri"/>
                <a:ea typeface="Calibri"/>
              </a:rPr>
              <a:t>Caso base: posicion == 16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32" name="Text 23"/>
          <p:cNvSpPr/>
          <p:nvPr/>
        </p:nvSpPr>
        <p:spPr>
          <a:xfrm>
            <a:off x="612720" y="5797440"/>
            <a:ext cx="6391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374151"/>
                </a:solidFill>
                <a:latin typeface="Calibri"/>
                <a:ea typeface="Calibri"/>
              </a:rPr>
              <a:t>El tablero está completo. Verifica las 16 pistas con comprueba(). Si todas coinciden devuelve 1 y la recursión propaga el éxito hacia arriba.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33" name="Shape 24"/>
          <p:cNvSpPr/>
          <p:nvPr/>
        </p:nvSpPr>
        <p:spPr>
          <a:xfrm>
            <a:off x="502920" y="6172200"/>
            <a:ext cx="6555960" cy="603000"/>
          </a:xfrm>
          <a:prstGeom prst="rect">
            <a:avLst/>
          </a:prstGeom>
          <a:solidFill>
            <a:srgbClr val="ede9fe"/>
          </a:solidFill>
          <a:ln w="1016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Shape 25"/>
          <p:cNvSpPr/>
          <p:nvPr/>
        </p:nvSpPr>
        <p:spPr>
          <a:xfrm>
            <a:off x="502920" y="6172200"/>
            <a:ext cx="54360" cy="60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Text 26"/>
          <p:cNvSpPr/>
          <p:nvPr/>
        </p:nvSpPr>
        <p:spPr>
          <a:xfrm>
            <a:off x="612720" y="6263640"/>
            <a:ext cx="6391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7c3aed"/>
                </a:solidFill>
                <a:latin typeface="Calibri"/>
                <a:ea typeface="Calibri"/>
              </a:rPr>
              <a:t>Calcular fila y columna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36" name="Text 27"/>
          <p:cNvSpPr/>
          <p:nvPr/>
        </p:nvSpPr>
        <p:spPr>
          <a:xfrm>
            <a:off x="612720" y="6464880"/>
            <a:ext cx="6391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374151"/>
                </a:solidFill>
                <a:latin typeface="Calibri"/>
                <a:ea typeface="Calibri"/>
              </a:rPr>
              <a:t>posicion va de 0 a 15. División entera → fila (0-3). Módulo 4 → columna (0-3). Se recorre fila por fila, de izquierda a derecha.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37" name="Shape 28"/>
          <p:cNvSpPr/>
          <p:nvPr/>
        </p:nvSpPr>
        <p:spPr>
          <a:xfrm>
            <a:off x="502920" y="6839640"/>
            <a:ext cx="6555960" cy="603000"/>
          </a:xfrm>
          <a:prstGeom prst="rect">
            <a:avLst/>
          </a:prstGeom>
          <a:solidFill>
            <a:srgbClr val="dcfce7"/>
          </a:solidFill>
          <a:ln w="1016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Shape 29"/>
          <p:cNvSpPr/>
          <p:nvPr/>
        </p:nvSpPr>
        <p:spPr>
          <a:xfrm>
            <a:off x="502920" y="6839640"/>
            <a:ext cx="54360" cy="60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Text 30"/>
          <p:cNvSpPr/>
          <p:nvPr/>
        </p:nvSpPr>
        <p:spPr>
          <a:xfrm>
            <a:off x="612720" y="6931080"/>
            <a:ext cx="6391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16a34a"/>
                </a:solidFill>
                <a:latin typeface="Calibri"/>
                <a:ea typeface="Calibri"/>
              </a:rPr>
              <a:t>Intentar cada número 1-4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40" name="Text 31"/>
          <p:cNvSpPr/>
          <p:nvPr/>
        </p:nvSpPr>
        <p:spPr>
          <a:xfrm>
            <a:off x="612720" y="7132320"/>
            <a:ext cx="6391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374151"/>
                </a:solidFill>
                <a:latin typeface="Calibri"/>
                <a:ea typeface="Calibri"/>
              </a:rPr>
              <a:t>Para cada celda se prueban 1, 2, 3 y 4. Si posicionar() confirma que el número es válido, se coloca y se avanza recursivamente.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41" name="Shape 32"/>
          <p:cNvSpPr/>
          <p:nvPr/>
        </p:nvSpPr>
        <p:spPr>
          <a:xfrm>
            <a:off x="502920" y="7507080"/>
            <a:ext cx="6555960" cy="603000"/>
          </a:xfrm>
          <a:prstGeom prst="rect">
            <a:avLst/>
          </a:prstGeom>
          <a:solidFill>
            <a:srgbClr val="fee2e2"/>
          </a:solidFill>
          <a:ln w="1016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Shape 33"/>
          <p:cNvSpPr/>
          <p:nvPr/>
        </p:nvSpPr>
        <p:spPr>
          <a:xfrm>
            <a:off x="502920" y="7507080"/>
            <a:ext cx="54360" cy="603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Text 34"/>
          <p:cNvSpPr/>
          <p:nvPr/>
        </p:nvSpPr>
        <p:spPr>
          <a:xfrm>
            <a:off x="612720" y="7598520"/>
            <a:ext cx="6391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dc2626"/>
                </a:solidFill>
                <a:latin typeface="Calibri"/>
                <a:ea typeface="Calibri"/>
              </a:rPr>
              <a:t>Backtrack: deshacer el movimiento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44" name="Text 35"/>
          <p:cNvSpPr/>
          <p:nvPr/>
        </p:nvSpPr>
        <p:spPr>
          <a:xfrm>
            <a:off x="612720" y="7799760"/>
            <a:ext cx="6391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374151"/>
                </a:solidFill>
                <a:latin typeface="Calibri"/>
                <a:ea typeface="Calibri"/>
              </a:rPr>
              <a:t>Si ningún número lleva a solución, se resetea la celda a 0 y se devuelve 0. La llamada anterior probará el siguiente número.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45" name="Shape 36"/>
          <p:cNvSpPr/>
          <p:nvPr/>
        </p:nvSpPr>
        <p:spPr>
          <a:xfrm>
            <a:off x="502920" y="8174880"/>
            <a:ext cx="6555960" cy="603000"/>
          </a:xfrm>
          <a:prstGeom prst="rect">
            <a:avLst/>
          </a:prstGeom>
          <a:solidFill>
            <a:srgbClr val="ffedd5"/>
          </a:solidFill>
          <a:ln w="1016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Shape 37"/>
          <p:cNvSpPr/>
          <p:nvPr/>
        </p:nvSpPr>
        <p:spPr>
          <a:xfrm>
            <a:off x="502920" y="8174880"/>
            <a:ext cx="54360" cy="603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 38"/>
          <p:cNvSpPr/>
          <p:nvPr/>
        </p:nvSpPr>
        <p:spPr>
          <a:xfrm>
            <a:off x="612720" y="8266320"/>
            <a:ext cx="6391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ea580c"/>
                </a:solidFill>
                <a:latin typeface="Calibri"/>
                <a:ea typeface="Calibri"/>
              </a:rPr>
              <a:t>posicionar(tablero, i, j, n)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48" name="Text 39"/>
          <p:cNvSpPr/>
          <p:nvPr/>
        </p:nvSpPr>
        <p:spPr>
          <a:xfrm>
            <a:off x="612720" y="8467200"/>
            <a:ext cx="6391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374151"/>
                </a:solidFill>
                <a:latin typeface="Calibri"/>
                <a:ea typeface="Calibri"/>
              </a:rPr>
              <a:t>Recorre la fila i y la columna j buscando si ya existe n. Si lo encuentra en cualquiera, devuelve 0. Solo devuelve 1 si n no aparece en ninguna.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49" name="Text 40"/>
          <p:cNvSpPr/>
          <p:nvPr/>
        </p:nvSpPr>
        <p:spPr>
          <a:xfrm>
            <a:off x="502920" y="10396800"/>
            <a:ext cx="3277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00" spc="-1" strike="noStrike">
                <a:solidFill>
                  <a:srgbClr val="6b7280"/>
                </a:solidFill>
                <a:latin typeface="Calibri"/>
                <a:ea typeface="Calibri"/>
              </a:rPr>
              <a:t>Rush 01 — Skyscrapers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150" name="Text 41"/>
          <p:cNvSpPr/>
          <p:nvPr/>
        </p:nvSpPr>
        <p:spPr>
          <a:xfrm>
            <a:off x="3781080" y="10396800"/>
            <a:ext cx="3277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00" spc="-1" strike="noStrike">
                <a:solidFill>
                  <a:srgbClr val="6b7280"/>
                </a:solidFill>
                <a:latin typeface="Calibri"/>
                <a:ea typeface="Calibri"/>
              </a:rPr>
              <a:t>Página 6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151" name="Shape 42"/>
          <p:cNvSpPr/>
          <p:nvPr/>
        </p:nvSpPr>
        <p:spPr>
          <a:xfrm>
            <a:off x="502920" y="10378440"/>
            <a:ext cx="6555960" cy="360"/>
          </a:xfrm>
          <a:prstGeom prst="line">
            <a:avLst/>
          </a:prstGeom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 0"/>
          <p:cNvSpPr/>
          <p:nvPr/>
        </p:nvSpPr>
        <p:spPr>
          <a:xfrm>
            <a:off x="502920" y="457200"/>
            <a:ext cx="6555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1a1a2e"/>
                </a:solidFill>
                <a:latin typeface="Georgia"/>
                <a:ea typeface="Georgia"/>
              </a:rPr>
              <a:t>comprobar.c — Verificación de pistas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53" name="Shape 1"/>
          <p:cNvSpPr/>
          <p:nvPr/>
        </p:nvSpPr>
        <p:spPr>
          <a:xfrm>
            <a:off x="502920" y="987480"/>
            <a:ext cx="6555960" cy="360"/>
          </a:xfrm>
          <a:prstGeom prst="line">
            <a:avLst/>
          </a:prstGeom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Text 2"/>
          <p:cNvSpPr/>
          <p:nvPr/>
        </p:nvSpPr>
        <p:spPr>
          <a:xfrm>
            <a:off x="502920" y="1097280"/>
            <a:ext cx="6555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alibri"/>
                <a:ea typeface="Calibri"/>
              </a:rPr>
              <a:t>5 funciones coordinadas para verificar las 16 posiciones del tablero.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55" name="Text 3"/>
          <p:cNvSpPr/>
          <p:nvPr/>
        </p:nvSpPr>
        <p:spPr>
          <a:xfrm>
            <a:off x="502920" y="1371600"/>
            <a:ext cx="6555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a1a2e"/>
                </a:solidFill>
                <a:latin typeface="Calibri"/>
                <a:ea typeface="Calibri"/>
              </a:rPr>
              <a:t>Las 4 subfunciones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56" name="Shape 4"/>
          <p:cNvSpPr/>
          <p:nvPr/>
        </p:nvSpPr>
        <p:spPr>
          <a:xfrm>
            <a:off x="502920" y="1627560"/>
            <a:ext cx="2011320" cy="255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Text 5"/>
          <p:cNvSpPr/>
          <p:nvPr/>
        </p:nvSpPr>
        <p:spPr>
          <a:xfrm>
            <a:off x="557640" y="1627560"/>
            <a:ext cx="1956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Función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58" name="Shape 6"/>
          <p:cNvSpPr/>
          <p:nvPr/>
        </p:nvSpPr>
        <p:spPr>
          <a:xfrm>
            <a:off x="2514600" y="1627560"/>
            <a:ext cx="1096920" cy="255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Text 7"/>
          <p:cNvSpPr/>
          <p:nvPr/>
        </p:nvSpPr>
        <p:spPr>
          <a:xfrm>
            <a:off x="2569320" y="1627560"/>
            <a:ext cx="1042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Posiciones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60" name="Shape 8"/>
          <p:cNvSpPr/>
          <p:nvPr/>
        </p:nvSpPr>
        <p:spPr>
          <a:xfrm>
            <a:off x="3611880" y="1627560"/>
            <a:ext cx="1462680" cy="255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Text 9"/>
          <p:cNvSpPr/>
          <p:nvPr/>
        </p:nvSpPr>
        <p:spPr>
          <a:xfrm>
            <a:off x="3666600" y="1627560"/>
            <a:ext cx="1407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Dirección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62" name="Shape 10"/>
          <p:cNvSpPr/>
          <p:nvPr/>
        </p:nvSpPr>
        <p:spPr>
          <a:xfrm>
            <a:off x="5074920" y="1627560"/>
            <a:ext cx="1983960" cy="255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Text 11"/>
          <p:cNvSpPr/>
          <p:nvPr/>
        </p:nvSpPr>
        <p:spPr>
          <a:xfrm>
            <a:off x="5129640" y="1627560"/>
            <a:ext cx="1928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Acceso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64" name="Shape 12"/>
          <p:cNvSpPr/>
          <p:nvPr/>
        </p:nvSpPr>
        <p:spPr>
          <a:xfrm>
            <a:off x="502920" y="1883520"/>
            <a:ext cx="2011320" cy="25560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Text 13"/>
          <p:cNvSpPr/>
          <p:nvPr/>
        </p:nvSpPr>
        <p:spPr>
          <a:xfrm>
            <a:off x="557640" y="1883520"/>
            <a:ext cx="1956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891b2"/>
                </a:solidFill>
                <a:latin typeface="Courier New"/>
                <a:ea typeface="Courier New"/>
              </a:rPr>
              <a:t>comprueba_normal1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66" name="Shape 14"/>
          <p:cNvSpPr/>
          <p:nvPr/>
        </p:nvSpPr>
        <p:spPr>
          <a:xfrm>
            <a:off x="2514600" y="1883520"/>
            <a:ext cx="1096920" cy="25560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Text 15"/>
          <p:cNvSpPr/>
          <p:nvPr/>
        </p:nvSpPr>
        <p:spPr>
          <a:xfrm>
            <a:off x="2569320" y="1883520"/>
            <a:ext cx="1042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374151"/>
                </a:solidFill>
                <a:latin typeface="Calibri"/>
                <a:ea typeface="Calibri"/>
              </a:rPr>
              <a:t>0–3 (arriba)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68" name="Shape 16"/>
          <p:cNvSpPr/>
          <p:nvPr/>
        </p:nvSpPr>
        <p:spPr>
          <a:xfrm>
            <a:off x="3611880" y="1883520"/>
            <a:ext cx="1462680" cy="25560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Text 17"/>
          <p:cNvSpPr/>
          <p:nvPr/>
        </p:nvSpPr>
        <p:spPr>
          <a:xfrm>
            <a:off x="3666600" y="1883520"/>
            <a:ext cx="1407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374151"/>
                </a:solidFill>
                <a:latin typeface="Calibri"/>
                <a:ea typeface="Calibri"/>
              </a:rPr>
              <a:t>col linea, fila 0→3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70" name="Shape 18"/>
          <p:cNvSpPr/>
          <p:nvPr/>
        </p:nvSpPr>
        <p:spPr>
          <a:xfrm>
            <a:off x="5074920" y="1883520"/>
            <a:ext cx="1983960" cy="25560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Text 19"/>
          <p:cNvSpPr/>
          <p:nvPr/>
        </p:nvSpPr>
        <p:spPr>
          <a:xfrm>
            <a:off x="5129640" y="1883520"/>
            <a:ext cx="1928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891b2"/>
                </a:solidFill>
                <a:latin typeface="Courier New"/>
                <a:ea typeface="Courier New"/>
              </a:rPr>
              <a:t>tablero[i][linea]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72" name="Shape 20"/>
          <p:cNvSpPr/>
          <p:nvPr/>
        </p:nvSpPr>
        <p:spPr>
          <a:xfrm>
            <a:off x="502920" y="2139840"/>
            <a:ext cx="2011320" cy="25560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Text 21"/>
          <p:cNvSpPr/>
          <p:nvPr/>
        </p:nvSpPr>
        <p:spPr>
          <a:xfrm>
            <a:off x="557640" y="2139840"/>
            <a:ext cx="1956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891b2"/>
                </a:solidFill>
                <a:latin typeface="Courier New"/>
                <a:ea typeface="Courier New"/>
              </a:rPr>
              <a:t>comprueba_reverse1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74" name="Shape 22"/>
          <p:cNvSpPr/>
          <p:nvPr/>
        </p:nvSpPr>
        <p:spPr>
          <a:xfrm>
            <a:off x="2514600" y="2139840"/>
            <a:ext cx="1096920" cy="25560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Text 23"/>
          <p:cNvSpPr/>
          <p:nvPr/>
        </p:nvSpPr>
        <p:spPr>
          <a:xfrm>
            <a:off x="2569320" y="2139840"/>
            <a:ext cx="1042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374151"/>
                </a:solidFill>
                <a:latin typeface="Calibri"/>
                <a:ea typeface="Calibri"/>
              </a:rPr>
              <a:t>4–7 (abajo)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76" name="Shape 24"/>
          <p:cNvSpPr/>
          <p:nvPr/>
        </p:nvSpPr>
        <p:spPr>
          <a:xfrm>
            <a:off x="3611880" y="2139840"/>
            <a:ext cx="1462680" cy="25560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Text 25"/>
          <p:cNvSpPr/>
          <p:nvPr/>
        </p:nvSpPr>
        <p:spPr>
          <a:xfrm>
            <a:off x="3666600" y="2139840"/>
            <a:ext cx="1407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374151"/>
                </a:solidFill>
                <a:latin typeface="Calibri"/>
                <a:ea typeface="Calibri"/>
              </a:rPr>
              <a:t>col linea, fila 3→0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78" name="Shape 26"/>
          <p:cNvSpPr/>
          <p:nvPr/>
        </p:nvSpPr>
        <p:spPr>
          <a:xfrm>
            <a:off x="5074920" y="2139840"/>
            <a:ext cx="1983960" cy="25560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27"/>
          <p:cNvSpPr/>
          <p:nvPr/>
        </p:nvSpPr>
        <p:spPr>
          <a:xfrm>
            <a:off x="5129640" y="2139840"/>
            <a:ext cx="1928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891b2"/>
                </a:solidFill>
                <a:latin typeface="Courier New"/>
                <a:ea typeface="Courier New"/>
              </a:rPr>
              <a:t>tablero[i][linea]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80" name="Shape 28"/>
          <p:cNvSpPr/>
          <p:nvPr/>
        </p:nvSpPr>
        <p:spPr>
          <a:xfrm>
            <a:off x="502920" y="2395800"/>
            <a:ext cx="2011320" cy="25560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Text 29"/>
          <p:cNvSpPr/>
          <p:nvPr/>
        </p:nvSpPr>
        <p:spPr>
          <a:xfrm>
            <a:off x="557640" y="2395800"/>
            <a:ext cx="1956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891b2"/>
                </a:solidFill>
                <a:latin typeface="Courier New"/>
                <a:ea typeface="Courier New"/>
              </a:rPr>
              <a:t>comprueba_normal2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82" name="Shape 30"/>
          <p:cNvSpPr/>
          <p:nvPr/>
        </p:nvSpPr>
        <p:spPr>
          <a:xfrm>
            <a:off x="2514600" y="2395800"/>
            <a:ext cx="1096920" cy="25560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Text 31"/>
          <p:cNvSpPr/>
          <p:nvPr/>
        </p:nvSpPr>
        <p:spPr>
          <a:xfrm>
            <a:off x="2569320" y="2395800"/>
            <a:ext cx="1042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374151"/>
                </a:solidFill>
                <a:latin typeface="Calibri"/>
                <a:ea typeface="Calibri"/>
              </a:rPr>
              <a:t>8–11 (izq)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84" name="Shape 32"/>
          <p:cNvSpPr/>
          <p:nvPr/>
        </p:nvSpPr>
        <p:spPr>
          <a:xfrm>
            <a:off x="3611880" y="2395800"/>
            <a:ext cx="1462680" cy="25560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Text 33"/>
          <p:cNvSpPr/>
          <p:nvPr/>
        </p:nvSpPr>
        <p:spPr>
          <a:xfrm>
            <a:off x="3666600" y="2395800"/>
            <a:ext cx="1407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374151"/>
                </a:solidFill>
                <a:latin typeface="Calibri"/>
                <a:ea typeface="Calibri"/>
              </a:rPr>
              <a:t>fila linea, col 0→3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86" name="Shape 34"/>
          <p:cNvSpPr/>
          <p:nvPr/>
        </p:nvSpPr>
        <p:spPr>
          <a:xfrm>
            <a:off x="5074920" y="2395800"/>
            <a:ext cx="1983960" cy="25560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Text 35"/>
          <p:cNvSpPr/>
          <p:nvPr/>
        </p:nvSpPr>
        <p:spPr>
          <a:xfrm>
            <a:off x="5129640" y="2395800"/>
            <a:ext cx="1928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891b2"/>
                </a:solidFill>
                <a:latin typeface="Courier New"/>
                <a:ea typeface="Courier New"/>
              </a:rPr>
              <a:t>tablero[linea][j]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88" name="Shape 36"/>
          <p:cNvSpPr/>
          <p:nvPr/>
        </p:nvSpPr>
        <p:spPr>
          <a:xfrm>
            <a:off x="502920" y="2651760"/>
            <a:ext cx="2011320" cy="25560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Text 37"/>
          <p:cNvSpPr/>
          <p:nvPr/>
        </p:nvSpPr>
        <p:spPr>
          <a:xfrm>
            <a:off x="557640" y="2651760"/>
            <a:ext cx="1956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891b2"/>
                </a:solidFill>
                <a:latin typeface="Courier New"/>
                <a:ea typeface="Courier New"/>
              </a:rPr>
              <a:t>comprueba_reverse2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90" name="Shape 38"/>
          <p:cNvSpPr/>
          <p:nvPr/>
        </p:nvSpPr>
        <p:spPr>
          <a:xfrm>
            <a:off x="2514600" y="2651760"/>
            <a:ext cx="1096920" cy="25560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Text 39"/>
          <p:cNvSpPr/>
          <p:nvPr/>
        </p:nvSpPr>
        <p:spPr>
          <a:xfrm>
            <a:off x="2569320" y="2651760"/>
            <a:ext cx="1042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374151"/>
                </a:solidFill>
                <a:latin typeface="Calibri"/>
                <a:ea typeface="Calibri"/>
              </a:rPr>
              <a:t>12–15 (der)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92" name="Shape 40"/>
          <p:cNvSpPr/>
          <p:nvPr/>
        </p:nvSpPr>
        <p:spPr>
          <a:xfrm>
            <a:off x="3611880" y="2651760"/>
            <a:ext cx="1462680" cy="25560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Text 41"/>
          <p:cNvSpPr/>
          <p:nvPr/>
        </p:nvSpPr>
        <p:spPr>
          <a:xfrm>
            <a:off x="3666600" y="2651760"/>
            <a:ext cx="1407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374151"/>
                </a:solidFill>
                <a:latin typeface="Calibri"/>
                <a:ea typeface="Calibri"/>
              </a:rPr>
              <a:t>fila linea, col 3→0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94" name="Shape 42"/>
          <p:cNvSpPr/>
          <p:nvPr/>
        </p:nvSpPr>
        <p:spPr>
          <a:xfrm>
            <a:off x="5074920" y="2651760"/>
            <a:ext cx="1983960" cy="25560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Text 43"/>
          <p:cNvSpPr/>
          <p:nvPr/>
        </p:nvSpPr>
        <p:spPr>
          <a:xfrm>
            <a:off x="5129640" y="2651760"/>
            <a:ext cx="1928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891b2"/>
                </a:solidFill>
                <a:latin typeface="Courier New"/>
                <a:ea typeface="Courier New"/>
              </a:rPr>
              <a:t>tablero[linea][j]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96" name="Shape 44"/>
          <p:cNvSpPr/>
          <p:nvPr/>
        </p:nvSpPr>
        <p:spPr>
          <a:xfrm>
            <a:off x="502920" y="3044880"/>
            <a:ext cx="6555960" cy="1206720"/>
          </a:xfrm>
          <a:prstGeom prst="rect">
            <a:avLst/>
          </a:prstGeom>
          <a:solidFill>
            <a:srgbClr val="cffafe"/>
          </a:solidFill>
          <a:ln w="1016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Shape 45"/>
          <p:cNvSpPr/>
          <p:nvPr/>
        </p:nvSpPr>
        <p:spPr>
          <a:xfrm>
            <a:off x="502920" y="3044880"/>
            <a:ext cx="54360" cy="1206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Text 46"/>
          <p:cNvSpPr/>
          <p:nvPr/>
        </p:nvSpPr>
        <p:spPr>
          <a:xfrm>
            <a:off x="612720" y="3136320"/>
            <a:ext cx="6391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891b2"/>
                </a:solidFill>
                <a:latin typeface="Courier New"/>
                <a:ea typeface="Courier New"/>
              </a:rPr>
              <a:t>comprueba(int *fuera, int **tablero, int posicion)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99" name="Text 47"/>
          <p:cNvSpPr/>
          <p:nvPr/>
        </p:nvSpPr>
        <p:spPr>
          <a:xfrm>
            <a:off x="612720" y="3337560"/>
            <a:ext cx="6391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374151"/>
                </a:solidFill>
                <a:latin typeface="Calibri"/>
                <a:ea typeface="Calibri"/>
              </a:rPr>
              <a:t>1. Calcula linea = posicion % 4  — el índice de fila o columna a verificar.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200" name="Text 48"/>
          <p:cNvSpPr/>
          <p:nvPr/>
        </p:nvSpPr>
        <p:spPr>
          <a:xfrm>
            <a:off x="612720" y="3538800"/>
            <a:ext cx="6391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374151"/>
                </a:solidFill>
                <a:latin typeface="Calibri"/>
                <a:ea typeface="Calibri"/>
              </a:rPr>
              <a:t>2. Según el rango de posicion, llama a la subfunción correcta pasándole tablero y linea.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201" name="Text 49"/>
          <p:cNvSpPr/>
          <p:nvPr/>
        </p:nvSpPr>
        <p:spPr>
          <a:xfrm>
            <a:off x="612720" y="3740040"/>
            <a:ext cx="6391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374151"/>
                </a:solidFill>
                <a:latin typeface="Calibri"/>
                <a:ea typeface="Calibri"/>
              </a:rPr>
              <a:t>3. Compara el resultado (edificios contados) con fuera[posicion] (la pista esperada).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202" name="Text 50"/>
          <p:cNvSpPr/>
          <p:nvPr/>
        </p:nvSpPr>
        <p:spPr>
          <a:xfrm>
            <a:off x="612720" y="3940920"/>
            <a:ext cx="6391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374151"/>
                </a:solidFill>
                <a:latin typeface="Calibri"/>
                <a:ea typeface="Calibri"/>
              </a:rPr>
              <a:t>4. Retorna 1 si coinciden, 0 si no.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203" name="Text 51"/>
          <p:cNvSpPr/>
          <p:nvPr/>
        </p:nvSpPr>
        <p:spPr>
          <a:xfrm>
            <a:off x="502920" y="4434840"/>
            <a:ext cx="6555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a1a2e"/>
                </a:solidFill>
                <a:latin typeface="Calibri"/>
                <a:ea typeface="Calibri"/>
              </a:rPr>
              <a:t>¿Cómo se cuenta lo que se ve?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04" name="Text 52"/>
          <p:cNvSpPr/>
          <p:nvPr/>
        </p:nvSpPr>
        <p:spPr>
          <a:xfrm>
            <a:off x="502920" y="4690800"/>
            <a:ext cx="6555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74151"/>
                </a:solidFill>
                <a:latin typeface="Calibri"/>
                <a:ea typeface="Calibri"/>
              </a:rPr>
              <a:t>Cada subfunción recorre una fila o columna. Va guardando el máximo edificio visto. Cada vez que encuentra uno más alto que el máximo actual, incrementa el contador y actualiza el máximo.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05" name="Shape 53"/>
          <p:cNvSpPr/>
          <p:nvPr/>
        </p:nvSpPr>
        <p:spPr>
          <a:xfrm>
            <a:off x="502920" y="5129640"/>
            <a:ext cx="1005480" cy="25560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Text 54"/>
          <p:cNvSpPr/>
          <p:nvPr/>
        </p:nvSpPr>
        <p:spPr>
          <a:xfrm>
            <a:off x="557640" y="5129640"/>
            <a:ext cx="950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374151"/>
                </a:solidFill>
                <a:latin typeface="Calibri"/>
                <a:ea typeface="Calibri"/>
              </a:rPr>
              <a:t>Fila: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07" name="Shape 55"/>
          <p:cNvSpPr/>
          <p:nvPr/>
        </p:nvSpPr>
        <p:spPr>
          <a:xfrm>
            <a:off x="1508760" y="5129640"/>
            <a:ext cx="1096920" cy="255600"/>
          </a:xfrm>
          <a:prstGeom prst="rect">
            <a:avLst/>
          </a:prstGeom>
          <a:solidFill>
            <a:srgbClr val="dbeafe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Text 56"/>
          <p:cNvSpPr/>
          <p:nvPr/>
        </p:nvSpPr>
        <p:spPr>
          <a:xfrm>
            <a:off x="1508760" y="512964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1a1a2e"/>
                </a:solidFill>
                <a:latin typeface="Calibri"/>
                <a:ea typeface="Calibri"/>
              </a:rPr>
              <a:t>3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09" name="Shape 57"/>
          <p:cNvSpPr/>
          <p:nvPr/>
        </p:nvSpPr>
        <p:spPr>
          <a:xfrm>
            <a:off x="2606040" y="5129640"/>
            <a:ext cx="1096920" cy="255600"/>
          </a:xfrm>
          <a:prstGeom prst="rect">
            <a:avLst/>
          </a:prstGeom>
          <a:solidFill>
            <a:srgbClr val="dbeafe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Text 58"/>
          <p:cNvSpPr/>
          <p:nvPr/>
        </p:nvSpPr>
        <p:spPr>
          <a:xfrm>
            <a:off x="2606040" y="512964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1a1a2e"/>
                </a:solidFill>
                <a:latin typeface="Calibri"/>
                <a:ea typeface="Calibri"/>
              </a:rPr>
              <a:t>1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11" name="Shape 59"/>
          <p:cNvSpPr/>
          <p:nvPr/>
        </p:nvSpPr>
        <p:spPr>
          <a:xfrm>
            <a:off x="3703320" y="5129640"/>
            <a:ext cx="1096920" cy="255600"/>
          </a:xfrm>
          <a:prstGeom prst="rect">
            <a:avLst/>
          </a:prstGeom>
          <a:solidFill>
            <a:srgbClr val="dbeafe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Text 60"/>
          <p:cNvSpPr/>
          <p:nvPr/>
        </p:nvSpPr>
        <p:spPr>
          <a:xfrm>
            <a:off x="3703320" y="512964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1a1a2e"/>
                </a:solidFill>
                <a:latin typeface="Calibri"/>
                <a:ea typeface="Calibri"/>
              </a:rPr>
              <a:t>4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13" name="Shape 61"/>
          <p:cNvSpPr/>
          <p:nvPr/>
        </p:nvSpPr>
        <p:spPr>
          <a:xfrm>
            <a:off x="4800600" y="5129640"/>
            <a:ext cx="1096920" cy="255600"/>
          </a:xfrm>
          <a:prstGeom prst="rect">
            <a:avLst/>
          </a:prstGeom>
          <a:solidFill>
            <a:srgbClr val="dbeafe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Text 62"/>
          <p:cNvSpPr/>
          <p:nvPr/>
        </p:nvSpPr>
        <p:spPr>
          <a:xfrm>
            <a:off x="4800600" y="512964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1a1a2e"/>
                </a:solidFill>
                <a:latin typeface="Calibri"/>
                <a:ea typeface="Calibri"/>
              </a:rPr>
              <a:t>2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15" name="Shape 63"/>
          <p:cNvSpPr/>
          <p:nvPr/>
        </p:nvSpPr>
        <p:spPr>
          <a:xfrm>
            <a:off x="502920" y="5385960"/>
            <a:ext cx="1005480" cy="25560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Text 64"/>
          <p:cNvSpPr/>
          <p:nvPr/>
        </p:nvSpPr>
        <p:spPr>
          <a:xfrm>
            <a:off x="557640" y="5385960"/>
            <a:ext cx="950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374151"/>
                </a:solidFill>
                <a:latin typeface="Calibri"/>
                <a:ea typeface="Calibri"/>
              </a:rPr>
              <a:t>¿Se ve?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17" name="Shape 65"/>
          <p:cNvSpPr/>
          <p:nvPr/>
        </p:nvSpPr>
        <p:spPr>
          <a:xfrm>
            <a:off x="1508760" y="5385960"/>
            <a:ext cx="1096920" cy="255600"/>
          </a:xfrm>
          <a:prstGeom prst="rect">
            <a:avLst/>
          </a:prstGeom>
          <a:solidFill>
            <a:srgbClr val="fef9c3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Text 66"/>
          <p:cNvSpPr/>
          <p:nvPr/>
        </p:nvSpPr>
        <p:spPr>
          <a:xfrm>
            <a:off x="1508760" y="538596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Sí (3&gt;0)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19" name="Shape 67"/>
          <p:cNvSpPr/>
          <p:nvPr/>
        </p:nvSpPr>
        <p:spPr>
          <a:xfrm>
            <a:off x="2606040" y="5385960"/>
            <a:ext cx="1096920" cy="255600"/>
          </a:xfrm>
          <a:prstGeom prst="rect">
            <a:avLst/>
          </a:prstGeom>
          <a:solidFill>
            <a:srgbClr val="fef9c3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0" name="Text 68"/>
          <p:cNvSpPr/>
          <p:nvPr/>
        </p:nvSpPr>
        <p:spPr>
          <a:xfrm>
            <a:off x="2606040" y="538596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No (1&lt;3)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21" name="Shape 69"/>
          <p:cNvSpPr/>
          <p:nvPr/>
        </p:nvSpPr>
        <p:spPr>
          <a:xfrm>
            <a:off x="3703320" y="5385960"/>
            <a:ext cx="1096920" cy="255600"/>
          </a:xfrm>
          <a:prstGeom prst="rect">
            <a:avLst/>
          </a:prstGeom>
          <a:solidFill>
            <a:srgbClr val="fef9c3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Text 70"/>
          <p:cNvSpPr/>
          <p:nvPr/>
        </p:nvSpPr>
        <p:spPr>
          <a:xfrm>
            <a:off x="3703320" y="538596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Sí (4&gt;3)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23" name="Shape 71"/>
          <p:cNvSpPr/>
          <p:nvPr/>
        </p:nvSpPr>
        <p:spPr>
          <a:xfrm>
            <a:off x="4800600" y="5385960"/>
            <a:ext cx="1096920" cy="255600"/>
          </a:xfrm>
          <a:prstGeom prst="rect">
            <a:avLst/>
          </a:prstGeom>
          <a:solidFill>
            <a:srgbClr val="fef9c3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4" name="Text 72"/>
          <p:cNvSpPr/>
          <p:nvPr/>
        </p:nvSpPr>
        <p:spPr>
          <a:xfrm>
            <a:off x="4800600" y="538596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No (2&lt;4)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25" name="Shape 73"/>
          <p:cNvSpPr/>
          <p:nvPr/>
        </p:nvSpPr>
        <p:spPr>
          <a:xfrm>
            <a:off x="502920" y="5641920"/>
            <a:ext cx="1005480" cy="25560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Text 74"/>
          <p:cNvSpPr/>
          <p:nvPr/>
        </p:nvSpPr>
        <p:spPr>
          <a:xfrm>
            <a:off x="557640" y="5641920"/>
            <a:ext cx="950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374151"/>
                </a:solidFill>
                <a:latin typeface="Calibri"/>
                <a:ea typeface="Calibri"/>
              </a:rPr>
              <a:t>Visible: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27" name="Shape 75"/>
          <p:cNvSpPr/>
          <p:nvPr/>
        </p:nvSpPr>
        <p:spPr>
          <a:xfrm>
            <a:off x="1508760" y="5641920"/>
            <a:ext cx="1096920" cy="255600"/>
          </a:xfrm>
          <a:prstGeom prst="rect">
            <a:avLst/>
          </a:prstGeom>
          <a:solidFill>
            <a:srgbClr val="dcfce7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Text 76"/>
          <p:cNvSpPr/>
          <p:nvPr/>
        </p:nvSpPr>
        <p:spPr>
          <a:xfrm>
            <a:off x="1508760" y="564192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1a1a2e"/>
                </a:solidFill>
                <a:latin typeface="Calibri"/>
                <a:ea typeface="Calibri"/>
              </a:rPr>
              <a:t>1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29" name="Shape 77"/>
          <p:cNvSpPr/>
          <p:nvPr/>
        </p:nvSpPr>
        <p:spPr>
          <a:xfrm>
            <a:off x="2606040" y="5641920"/>
            <a:ext cx="1096920" cy="255600"/>
          </a:xfrm>
          <a:prstGeom prst="rect">
            <a:avLst/>
          </a:prstGeom>
          <a:solidFill>
            <a:srgbClr val="dcfce7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Text 78"/>
          <p:cNvSpPr/>
          <p:nvPr/>
        </p:nvSpPr>
        <p:spPr>
          <a:xfrm>
            <a:off x="2606040" y="564192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1a1a2e"/>
                </a:solidFill>
                <a:latin typeface="Calibri"/>
                <a:ea typeface="Calibri"/>
              </a:rPr>
              <a:t>1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31" name="Shape 79"/>
          <p:cNvSpPr/>
          <p:nvPr/>
        </p:nvSpPr>
        <p:spPr>
          <a:xfrm>
            <a:off x="3703320" y="5641920"/>
            <a:ext cx="1096920" cy="255600"/>
          </a:xfrm>
          <a:prstGeom prst="rect">
            <a:avLst/>
          </a:prstGeom>
          <a:solidFill>
            <a:srgbClr val="dcfce7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Text 80"/>
          <p:cNvSpPr/>
          <p:nvPr/>
        </p:nvSpPr>
        <p:spPr>
          <a:xfrm>
            <a:off x="3703320" y="564192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1a1a2e"/>
                </a:solidFill>
                <a:latin typeface="Calibri"/>
                <a:ea typeface="Calibri"/>
              </a:rPr>
              <a:t>2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33" name="Shape 81"/>
          <p:cNvSpPr/>
          <p:nvPr/>
        </p:nvSpPr>
        <p:spPr>
          <a:xfrm>
            <a:off x="4800600" y="5641920"/>
            <a:ext cx="1096920" cy="255600"/>
          </a:xfrm>
          <a:prstGeom prst="rect">
            <a:avLst/>
          </a:prstGeom>
          <a:solidFill>
            <a:srgbClr val="dcfce7"/>
          </a:solidFill>
          <a:ln w="381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Text 82"/>
          <p:cNvSpPr/>
          <p:nvPr/>
        </p:nvSpPr>
        <p:spPr>
          <a:xfrm>
            <a:off x="4800600" y="564192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1a1a2e"/>
                </a:solidFill>
                <a:latin typeface="Calibri"/>
                <a:ea typeface="Calibri"/>
              </a:rPr>
              <a:t>2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35" name="Text 83"/>
          <p:cNvSpPr/>
          <p:nvPr/>
        </p:nvSpPr>
        <p:spPr>
          <a:xfrm>
            <a:off x="502920" y="5989320"/>
            <a:ext cx="6555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Resultado: se ven 2 edificios desde la izquierda (3 y 4).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36" name="Text 84"/>
          <p:cNvSpPr/>
          <p:nvPr/>
        </p:nvSpPr>
        <p:spPr>
          <a:xfrm>
            <a:off x="502920" y="10396800"/>
            <a:ext cx="3277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00" spc="-1" strike="noStrike">
                <a:solidFill>
                  <a:srgbClr val="6b7280"/>
                </a:solidFill>
                <a:latin typeface="Calibri"/>
                <a:ea typeface="Calibri"/>
              </a:rPr>
              <a:t>Rush 01 — Skyscrapers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237" name="Text 85"/>
          <p:cNvSpPr/>
          <p:nvPr/>
        </p:nvSpPr>
        <p:spPr>
          <a:xfrm>
            <a:off x="3781080" y="10396800"/>
            <a:ext cx="3277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00" spc="-1" strike="noStrike">
                <a:solidFill>
                  <a:srgbClr val="6b7280"/>
                </a:solidFill>
                <a:latin typeface="Calibri"/>
                <a:ea typeface="Calibri"/>
              </a:rPr>
              <a:t>Página 7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238" name="Shape 86"/>
          <p:cNvSpPr/>
          <p:nvPr/>
        </p:nvSpPr>
        <p:spPr>
          <a:xfrm>
            <a:off x="502920" y="10378440"/>
            <a:ext cx="6555960" cy="360"/>
          </a:xfrm>
          <a:prstGeom prst="line">
            <a:avLst/>
          </a:prstGeom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Text 1"/>
          <p:cNvSpPr/>
          <p:nvPr/>
        </p:nvSpPr>
        <p:spPr>
          <a:xfrm>
            <a:off x="411480" y="411480"/>
            <a:ext cx="6738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C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o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m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p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a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r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a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t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i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v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a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: 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o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r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i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g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i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n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a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l 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v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s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. 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c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o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r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r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e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g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i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d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a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 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—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 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i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m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p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a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c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t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o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 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e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n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 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e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l 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p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r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o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g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r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a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m</a:t>
            </a:r>
            <a:r>
              <a:rPr b="1" lang="en-US" sz="1600" spc="-1" strike="noStrike">
                <a:solidFill>
                  <a:srgbClr val="1a1a2e"/>
                </a:solidFill>
                <a:latin typeface="Georgia"/>
                <a:ea typeface="Georgia"/>
              </a:rPr>
              <a:t>a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40" name="Text 4"/>
          <p:cNvSpPr/>
          <p:nvPr/>
        </p:nvSpPr>
        <p:spPr>
          <a:xfrm>
            <a:off x="411480" y="868680"/>
            <a:ext cx="6738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b7280"/>
                </a:solidFill>
                <a:latin typeface="Calibri"/>
                <a:ea typeface="Calibri"/>
              </a:rPr>
              <a:t>Qué diferencia hace cada cambio — por qué el programa no funcionaba sin él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41" name="Shape 2"/>
          <p:cNvSpPr/>
          <p:nvPr/>
        </p:nvSpPr>
        <p:spPr>
          <a:xfrm>
            <a:off x="411480" y="1078920"/>
            <a:ext cx="6738840" cy="360"/>
          </a:xfrm>
          <a:prstGeom prst="line">
            <a:avLst/>
          </a:prstGeom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Shape 7"/>
          <p:cNvSpPr/>
          <p:nvPr/>
        </p:nvSpPr>
        <p:spPr>
          <a:xfrm>
            <a:off x="411480" y="1161360"/>
            <a:ext cx="3314520" cy="219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Text 55"/>
          <p:cNvSpPr/>
          <p:nvPr/>
        </p:nvSpPr>
        <p:spPr>
          <a:xfrm>
            <a:off x="466200" y="1161360"/>
            <a:ext cx="3223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✗  </a:t>
            </a: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Versión original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44" name="Shape 31"/>
          <p:cNvSpPr/>
          <p:nvPr/>
        </p:nvSpPr>
        <p:spPr>
          <a:xfrm>
            <a:off x="3835800" y="1161360"/>
            <a:ext cx="3314520" cy="219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Text 57"/>
          <p:cNvSpPr/>
          <p:nvPr/>
        </p:nvSpPr>
        <p:spPr>
          <a:xfrm>
            <a:off x="3890880" y="1161360"/>
            <a:ext cx="3223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✓  </a:t>
            </a: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Versión corregida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46" name="Shape 41"/>
          <p:cNvSpPr/>
          <p:nvPr/>
        </p:nvSpPr>
        <p:spPr>
          <a:xfrm>
            <a:off x="411480" y="1444680"/>
            <a:ext cx="182520" cy="1825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7" name="Text 59"/>
          <p:cNvSpPr/>
          <p:nvPr/>
        </p:nvSpPr>
        <p:spPr>
          <a:xfrm>
            <a:off x="411480" y="144468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248" name="Text 61"/>
          <p:cNvSpPr/>
          <p:nvPr/>
        </p:nvSpPr>
        <p:spPr>
          <a:xfrm>
            <a:off x="640080" y="1444680"/>
            <a:ext cx="1279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-1" strike="noStrike">
                <a:solidFill>
                  <a:srgbClr val="ea580c"/>
                </a:solidFill>
                <a:latin typeface="Courier New"/>
                <a:ea typeface="Courier New"/>
              </a:rPr>
              <a:t>main.c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49" name="Text 63"/>
          <p:cNvSpPr/>
          <p:nvPr/>
        </p:nvSpPr>
        <p:spPr>
          <a:xfrm>
            <a:off x="1984320" y="1444680"/>
            <a:ext cx="51660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a1a2e"/>
                </a:solidFill>
                <a:latin typeface="Calibri"/>
                <a:ea typeface="Calibri"/>
              </a:rPr>
              <a:t>Tablero </a:t>
            </a:r>
            <a:r>
              <a:rPr b="1" lang="en-US" sz="900" spc="-1" strike="noStrike">
                <a:solidFill>
                  <a:srgbClr val="1a1a2e"/>
                </a:solidFill>
                <a:latin typeface="Calibri"/>
                <a:ea typeface="Calibri"/>
              </a:rPr>
              <a:t>sin </a:t>
            </a:r>
            <a:r>
              <a:rPr b="1" lang="en-US" sz="900" spc="-1" strike="noStrike">
                <a:solidFill>
                  <a:srgbClr val="1a1a2e"/>
                </a:solidFill>
                <a:latin typeface="Calibri"/>
                <a:ea typeface="Calibri"/>
              </a:rPr>
              <a:t>inicializ</a:t>
            </a:r>
            <a:r>
              <a:rPr b="1" lang="en-US" sz="900" spc="-1" strike="noStrike">
                <a:solidFill>
                  <a:srgbClr val="1a1a2e"/>
                </a:solidFill>
                <a:latin typeface="Calibri"/>
                <a:ea typeface="Calibri"/>
              </a:rPr>
              <a:t>ar a 0 </a:t>
            </a:r>
            <a:r>
              <a:rPr b="1" lang="en-US" sz="900" spc="-1" strike="noStrike">
                <a:solidFill>
                  <a:srgbClr val="1a1a2e"/>
                </a:solidFill>
                <a:latin typeface="Calibri"/>
                <a:ea typeface="Calibri"/>
              </a:rPr>
              <a:t>— </a:t>
            </a:r>
            <a:r>
              <a:rPr b="1" lang="en-US" sz="900" spc="-1" strike="noStrike">
                <a:solidFill>
                  <a:srgbClr val="1a1a2e"/>
                </a:solidFill>
                <a:latin typeface="Calibri"/>
                <a:ea typeface="Calibri"/>
              </a:rPr>
              <a:t>basura </a:t>
            </a:r>
            <a:r>
              <a:rPr b="1" lang="en-US" sz="900" spc="-1" strike="noStrike">
                <a:solidFill>
                  <a:srgbClr val="1a1a2e"/>
                </a:solidFill>
                <a:latin typeface="Calibri"/>
                <a:ea typeface="Calibri"/>
              </a:rPr>
              <a:t>de </a:t>
            </a:r>
            <a:r>
              <a:rPr b="1" lang="en-US" sz="900" spc="-1" strike="noStrike">
                <a:solidFill>
                  <a:srgbClr val="1a1a2e"/>
                </a:solidFill>
                <a:latin typeface="Calibri"/>
                <a:ea typeface="Calibri"/>
              </a:rPr>
              <a:t>memor</a:t>
            </a:r>
            <a:r>
              <a:rPr b="1" lang="en-US" sz="900" spc="-1" strike="noStrike">
                <a:solidFill>
                  <a:srgbClr val="1a1a2e"/>
                </a:solidFill>
                <a:latin typeface="Calibri"/>
                <a:ea typeface="Calibri"/>
              </a:rPr>
              <a:t>ia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50" name="Shape 43"/>
          <p:cNvSpPr/>
          <p:nvPr/>
        </p:nvSpPr>
        <p:spPr>
          <a:xfrm>
            <a:off x="411480" y="1654920"/>
            <a:ext cx="3314520" cy="1334520"/>
          </a:xfrm>
          <a:prstGeom prst="rect">
            <a:avLst/>
          </a:prstGeom>
          <a:solidFill>
            <a:srgbClr val="fee2e2"/>
          </a:solidFill>
          <a:ln w="635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Shape 46"/>
          <p:cNvSpPr/>
          <p:nvPr/>
        </p:nvSpPr>
        <p:spPr>
          <a:xfrm>
            <a:off x="411480" y="1654920"/>
            <a:ext cx="31680" cy="1334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2" name="Shape 47"/>
          <p:cNvSpPr/>
          <p:nvPr/>
        </p:nvSpPr>
        <p:spPr>
          <a:xfrm>
            <a:off x="3835800" y="1654920"/>
            <a:ext cx="3314520" cy="133452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3" name="Shape 48"/>
          <p:cNvSpPr/>
          <p:nvPr/>
        </p:nvSpPr>
        <p:spPr>
          <a:xfrm>
            <a:off x="3835800" y="1654920"/>
            <a:ext cx="31680" cy="1334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Text 65"/>
          <p:cNvSpPr/>
          <p:nvPr/>
        </p:nvSpPr>
        <p:spPr>
          <a:xfrm>
            <a:off x="502920" y="171900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/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/ 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n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o 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h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a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y 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i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n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t 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i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, 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i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n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t 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j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255" name="Text 69"/>
          <p:cNvSpPr/>
          <p:nvPr/>
        </p:nvSpPr>
        <p:spPr>
          <a:xfrm>
            <a:off x="502920" y="186984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// no hay inicialización del tablero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256" name="Text 71"/>
          <p:cNvSpPr/>
          <p:nvPr/>
        </p:nvSpPr>
        <p:spPr>
          <a:xfrm>
            <a:off x="502920" y="202068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tablero = 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crear_tablero(talla);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257" name="Text 73"/>
          <p:cNvSpPr/>
          <p:nvPr/>
        </p:nvSpPr>
        <p:spPr>
          <a:xfrm>
            <a:off x="502920" y="217188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llenar(tablero, argv[1]); // 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función de prueba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258" name="Text 75"/>
          <p:cNvSpPr/>
          <p:nvPr/>
        </p:nvSpPr>
        <p:spPr>
          <a:xfrm>
            <a:off x="502920" y="232272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// celdas quedan con valores residuales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259" name="Text 77"/>
          <p:cNvSpPr/>
          <p:nvPr/>
        </p:nvSpPr>
        <p:spPr>
          <a:xfrm>
            <a:off x="3890880" y="171900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int i; 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 int 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j; // 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variab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les 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nuevas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260" name="Text 119"/>
          <p:cNvSpPr/>
          <p:nvPr/>
        </p:nvSpPr>
        <p:spPr>
          <a:xfrm>
            <a:off x="3890880" y="186984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t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a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b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l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e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r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o 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= 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c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r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e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a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r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_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t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a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b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l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e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r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o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(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t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a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l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l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a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)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;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261" name="Text 120"/>
          <p:cNvSpPr/>
          <p:nvPr/>
        </p:nvSpPr>
        <p:spPr>
          <a:xfrm>
            <a:off x="3890880" y="202068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w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h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i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l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e 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(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i 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&lt; 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t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a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l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l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a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) 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{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262" name="Text 121"/>
          <p:cNvSpPr/>
          <p:nvPr/>
        </p:nvSpPr>
        <p:spPr>
          <a:xfrm>
            <a:off x="3890880" y="217188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  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j = 0;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263" name="Text 122"/>
          <p:cNvSpPr/>
          <p:nvPr/>
        </p:nvSpPr>
        <p:spPr>
          <a:xfrm>
            <a:off x="3890880" y="232272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  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while (j &lt; talla)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264" name="Text 123"/>
          <p:cNvSpPr/>
          <p:nvPr/>
        </p:nvSpPr>
        <p:spPr>
          <a:xfrm>
            <a:off x="3890880" y="247356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80" spc="-1" strike="noStrike">
                <a:solidFill>
                  <a:srgbClr val="16a34a"/>
                </a:solidFill>
                <a:latin typeface="Courier New"/>
                <a:ea typeface="Courier New"/>
              </a:rPr>
              <a:t>    </a:t>
            </a:r>
            <a:r>
              <a:rPr b="1" lang="en-US" sz="780" spc="-1" strike="noStrike">
                <a:solidFill>
                  <a:srgbClr val="16a34a"/>
                </a:solidFill>
                <a:latin typeface="Courier New"/>
                <a:ea typeface="Courier New"/>
              </a:rPr>
              <a:t>tablero[i][j] = 0; // NUEVO: limpiar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265" name="Text 124"/>
          <p:cNvSpPr/>
          <p:nvPr/>
        </p:nvSpPr>
        <p:spPr>
          <a:xfrm>
            <a:off x="3890880" y="262440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  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i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+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+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;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266" name="Text 125"/>
          <p:cNvSpPr/>
          <p:nvPr/>
        </p:nvSpPr>
        <p:spPr>
          <a:xfrm>
            <a:off x="3890880" y="277524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}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267" name="Shape 49"/>
          <p:cNvSpPr/>
          <p:nvPr/>
        </p:nvSpPr>
        <p:spPr>
          <a:xfrm>
            <a:off x="411480" y="3063240"/>
            <a:ext cx="6738840" cy="1389600"/>
          </a:xfrm>
          <a:prstGeom prst="rect">
            <a:avLst/>
          </a:prstGeom>
          <a:solidFill>
            <a:srgbClr val="ffedd5"/>
          </a:solidFill>
          <a:ln w="762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8" name="Shape 50"/>
          <p:cNvSpPr/>
          <p:nvPr/>
        </p:nvSpPr>
        <p:spPr>
          <a:xfrm>
            <a:off x="411480" y="3063240"/>
            <a:ext cx="31680" cy="13896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Text 126"/>
          <p:cNvSpPr/>
          <p:nvPr/>
        </p:nvSpPr>
        <p:spPr>
          <a:xfrm>
            <a:off x="502920" y="3117960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-1" strike="noStrike">
                <a:solidFill>
                  <a:srgbClr val="ea580c"/>
                </a:solidFill>
                <a:latin typeface="Calibri"/>
                <a:ea typeface="Calibri"/>
              </a:rPr>
              <a:t>⚡ </a:t>
            </a:r>
            <a:r>
              <a:rPr b="1" lang="en-US" sz="850" spc="-1" strike="noStrike">
                <a:solidFill>
                  <a:srgbClr val="ea580c"/>
                </a:solidFill>
                <a:latin typeface="Calibri"/>
                <a:ea typeface="Calibri"/>
              </a:rPr>
              <a:t>Impacto en ejecución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70" name="Text 127"/>
          <p:cNvSpPr/>
          <p:nvPr/>
        </p:nvSpPr>
        <p:spPr>
          <a:xfrm>
            <a:off x="521280" y="3310200"/>
            <a:ext cx="657432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m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al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lo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c(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)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re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se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rv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a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u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n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bl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o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q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u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e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d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e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R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A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M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p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er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o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n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o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b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o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rr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a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s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u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c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o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n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te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ni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d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o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a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n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te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ri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o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r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—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p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u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e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d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e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h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a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b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er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c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u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al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q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ui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er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n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ú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m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er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o.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71" name="Text 128"/>
          <p:cNvSpPr/>
          <p:nvPr/>
        </p:nvSpPr>
        <p:spPr>
          <a:xfrm>
            <a:off x="521280" y="3493080"/>
            <a:ext cx="657432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p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o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si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ci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o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n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ar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()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c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o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m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p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ar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a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el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n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ú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m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er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o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a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c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ol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o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c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ar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c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o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n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tr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a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t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o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d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o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s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lo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s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v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al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o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re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s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y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a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e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n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la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fil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a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y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c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ol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u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m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n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a.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72" name="Text 129"/>
          <p:cNvSpPr/>
          <p:nvPr/>
        </p:nvSpPr>
        <p:spPr>
          <a:xfrm>
            <a:off x="521280" y="3675960"/>
            <a:ext cx="657432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Si una celda vacía tiene valor residual 2 en memoria, posicionar() cree que el 2 ya está colocado.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73" name="Text 130"/>
          <p:cNvSpPr/>
          <p:nvPr/>
        </p:nvSpPr>
        <p:spPr>
          <a:xfrm>
            <a:off x="521280" y="3858840"/>
            <a:ext cx="657432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-1" strike="noStrike">
                <a:solidFill>
                  <a:srgbClr val="ea580c"/>
                </a:solidFill>
                <a:latin typeface="Calibri"/>
                <a:ea typeface="Calibri"/>
              </a:rPr>
              <a:t>→ </a:t>
            </a:r>
            <a:r>
              <a:rPr b="1" lang="en-US" sz="850" spc="-1" strike="noStrike">
                <a:solidFill>
                  <a:srgbClr val="ea580c"/>
                </a:solidFill>
                <a:latin typeface="Calibri"/>
                <a:ea typeface="Calibri"/>
              </a:rPr>
              <a:t>Con </a:t>
            </a:r>
            <a:r>
              <a:rPr b="1" lang="en-US" sz="850" spc="-1" strike="noStrike">
                <a:solidFill>
                  <a:srgbClr val="ea580c"/>
                </a:solidFill>
                <a:latin typeface="Calibri"/>
                <a:ea typeface="Calibri"/>
              </a:rPr>
              <a:t>basura </a:t>
            </a:r>
            <a:r>
              <a:rPr b="1" lang="en-US" sz="850" spc="-1" strike="noStrike">
                <a:solidFill>
                  <a:srgbClr val="ea580c"/>
                </a:solidFill>
                <a:latin typeface="Calibri"/>
                <a:ea typeface="Calibri"/>
              </a:rPr>
              <a:t>en </a:t>
            </a:r>
            <a:r>
              <a:rPr b="1" lang="en-US" sz="850" spc="-1" strike="noStrike">
                <a:solidFill>
                  <a:srgbClr val="ea580c"/>
                </a:solidFill>
                <a:latin typeface="Calibri"/>
                <a:ea typeface="Calibri"/>
              </a:rPr>
              <a:t>todas </a:t>
            </a:r>
            <a:r>
              <a:rPr b="1" lang="en-US" sz="850" spc="-1" strike="noStrike">
                <a:solidFill>
                  <a:srgbClr val="ea580c"/>
                </a:solidFill>
                <a:latin typeface="Calibri"/>
                <a:ea typeface="Calibri"/>
              </a:rPr>
              <a:t>las </a:t>
            </a:r>
            <a:r>
              <a:rPr b="1" lang="en-US" sz="850" spc="-1" strike="noStrike">
                <a:solidFill>
                  <a:srgbClr val="ea580c"/>
                </a:solidFill>
                <a:latin typeface="Calibri"/>
                <a:ea typeface="Calibri"/>
              </a:rPr>
              <a:t>celdas, </a:t>
            </a:r>
            <a:r>
              <a:rPr b="1" lang="en-US" sz="850" spc="-1" strike="noStrike">
                <a:solidFill>
                  <a:srgbClr val="ea580c"/>
                </a:solidFill>
                <a:latin typeface="Calibri"/>
                <a:ea typeface="Calibri"/>
              </a:rPr>
              <a:t>posicio</a:t>
            </a:r>
            <a:r>
              <a:rPr b="1" lang="en-US" sz="850" spc="-1" strike="noStrike">
                <a:solidFill>
                  <a:srgbClr val="ea580c"/>
                </a:solidFill>
                <a:latin typeface="Calibri"/>
                <a:ea typeface="Calibri"/>
              </a:rPr>
              <a:t>nar() </a:t>
            </a:r>
            <a:r>
              <a:rPr b="1" lang="en-US" sz="850" spc="-1" strike="noStrike">
                <a:solidFill>
                  <a:srgbClr val="ea580c"/>
                </a:solidFill>
                <a:latin typeface="Calibri"/>
                <a:ea typeface="Calibri"/>
              </a:rPr>
              <a:t>rechaza </a:t>
            </a:r>
            <a:r>
              <a:rPr b="1" lang="en-US" sz="850" spc="-1" strike="noStrike">
                <a:solidFill>
                  <a:srgbClr val="ea580c"/>
                </a:solidFill>
                <a:latin typeface="Calibri"/>
                <a:ea typeface="Calibri"/>
              </a:rPr>
              <a:t>casi </a:t>
            </a:r>
            <a:r>
              <a:rPr b="1" lang="en-US" sz="850" spc="-1" strike="noStrike">
                <a:solidFill>
                  <a:srgbClr val="ea580c"/>
                </a:solidFill>
                <a:latin typeface="Calibri"/>
                <a:ea typeface="Calibri"/>
              </a:rPr>
              <a:t>todos </a:t>
            </a:r>
            <a:r>
              <a:rPr b="1" lang="en-US" sz="850" spc="-1" strike="noStrike">
                <a:solidFill>
                  <a:srgbClr val="ea580c"/>
                </a:solidFill>
                <a:latin typeface="Calibri"/>
                <a:ea typeface="Calibri"/>
              </a:rPr>
              <a:t>los </a:t>
            </a:r>
            <a:r>
              <a:rPr b="1" lang="en-US" sz="850" spc="-1" strike="noStrike">
                <a:solidFill>
                  <a:srgbClr val="ea580c"/>
                </a:solidFill>
                <a:latin typeface="Calibri"/>
                <a:ea typeface="Calibri"/>
              </a:rPr>
              <a:t>número</a:t>
            </a:r>
            <a:r>
              <a:rPr b="1" lang="en-US" sz="850" spc="-1" strike="noStrike">
                <a:solidFill>
                  <a:srgbClr val="ea580c"/>
                </a:solidFill>
                <a:latin typeface="Calibri"/>
                <a:ea typeface="Calibri"/>
              </a:rPr>
              <a:t>s </a:t>
            </a:r>
            <a:r>
              <a:rPr b="1" lang="en-US" sz="850" spc="-1" strike="noStrike">
                <a:solidFill>
                  <a:srgbClr val="ea580c"/>
                </a:solidFill>
                <a:latin typeface="Calibri"/>
                <a:ea typeface="Calibri"/>
              </a:rPr>
              <a:t>válidos </a:t>
            </a:r>
            <a:r>
              <a:rPr b="1" lang="en-US" sz="850" spc="-1" strike="noStrike">
                <a:solidFill>
                  <a:srgbClr val="ea580c"/>
                </a:solidFill>
                <a:latin typeface="Calibri"/>
                <a:ea typeface="Calibri"/>
              </a:rPr>
              <a:t>desde </a:t>
            </a:r>
            <a:r>
              <a:rPr b="1" lang="en-US" sz="850" spc="-1" strike="noStrike">
                <a:solidFill>
                  <a:srgbClr val="ea580c"/>
                </a:solidFill>
                <a:latin typeface="Calibri"/>
                <a:ea typeface="Calibri"/>
              </a:rPr>
              <a:t>el </a:t>
            </a:r>
            <a:r>
              <a:rPr b="1" lang="en-US" sz="850" spc="-1" strike="noStrike">
                <a:solidFill>
                  <a:srgbClr val="ea580c"/>
                </a:solidFill>
                <a:latin typeface="Calibri"/>
                <a:ea typeface="Calibri"/>
              </a:rPr>
              <a:t>inicio.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74" name="Text 131"/>
          <p:cNvSpPr/>
          <p:nvPr/>
        </p:nvSpPr>
        <p:spPr>
          <a:xfrm>
            <a:off x="521280" y="4041720"/>
            <a:ext cx="657432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-1" strike="noStrike">
                <a:solidFill>
                  <a:srgbClr val="ea580c"/>
                </a:solidFill>
                <a:latin typeface="Calibri"/>
                <a:ea typeface="Calibri"/>
              </a:rPr>
              <a:t>→ </a:t>
            </a:r>
            <a:r>
              <a:rPr b="1" lang="en-US" sz="850" spc="-1" strike="noStrike">
                <a:solidFill>
                  <a:srgbClr val="ea580c"/>
                </a:solidFill>
                <a:latin typeface="Calibri"/>
                <a:ea typeface="Calibri"/>
              </a:rPr>
              <a:t>El backtracking no puede colocar nada y devuelve 0 — el programa imprime Error siempre.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75" name="Text 132"/>
          <p:cNvSpPr/>
          <p:nvPr/>
        </p:nvSpPr>
        <p:spPr>
          <a:xfrm>
            <a:off x="521280" y="4224600"/>
            <a:ext cx="657432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-1" strike="noStrike">
                <a:solidFill>
                  <a:srgbClr val="ea580c"/>
                </a:solidFill>
                <a:latin typeface="Calibri"/>
                <a:ea typeface="Calibri"/>
              </a:rPr>
              <a:t>→ </a:t>
            </a:r>
            <a:r>
              <a:rPr b="1" lang="en-US" sz="850" spc="-1" strike="noStrike">
                <a:solidFill>
                  <a:srgbClr val="ea580c"/>
                </a:solidFill>
                <a:latin typeface="Calibri"/>
                <a:ea typeface="Calibri"/>
              </a:rPr>
              <a:t>Con </a:t>
            </a:r>
            <a:r>
              <a:rPr b="1" lang="en-US" sz="850" spc="-1" strike="noStrike">
                <a:solidFill>
                  <a:srgbClr val="ea580c"/>
                </a:solidFill>
                <a:latin typeface="Calibri"/>
                <a:ea typeface="Calibri"/>
              </a:rPr>
              <a:t>la </a:t>
            </a:r>
            <a:r>
              <a:rPr b="1" lang="en-US" sz="850" spc="-1" strike="noStrike">
                <a:solidFill>
                  <a:srgbClr val="ea580c"/>
                </a:solidFill>
                <a:latin typeface="Calibri"/>
                <a:ea typeface="Calibri"/>
              </a:rPr>
              <a:t>inicializ</a:t>
            </a:r>
            <a:r>
              <a:rPr b="1" lang="en-US" sz="850" spc="-1" strike="noStrike">
                <a:solidFill>
                  <a:srgbClr val="ea580c"/>
                </a:solidFill>
                <a:latin typeface="Calibri"/>
                <a:ea typeface="Calibri"/>
              </a:rPr>
              <a:t>ación a </a:t>
            </a:r>
            <a:r>
              <a:rPr b="1" lang="en-US" sz="850" spc="-1" strike="noStrike">
                <a:solidFill>
                  <a:srgbClr val="ea580c"/>
                </a:solidFill>
                <a:latin typeface="Calibri"/>
                <a:ea typeface="Calibri"/>
              </a:rPr>
              <a:t>0, </a:t>
            </a:r>
            <a:r>
              <a:rPr b="1" lang="en-US" sz="850" spc="-1" strike="noStrike">
                <a:solidFill>
                  <a:srgbClr val="ea580c"/>
                </a:solidFill>
                <a:latin typeface="Calibri"/>
                <a:ea typeface="Calibri"/>
              </a:rPr>
              <a:t>posicio</a:t>
            </a:r>
            <a:r>
              <a:rPr b="1" lang="en-US" sz="850" spc="-1" strike="noStrike">
                <a:solidFill>
                  <a:srgbClr val="ea580c"/>
                </a:solidFill>
                <a:latin typeface="Calibri"/>
                <a:ea typeface="Calibri"/>
              </a:rPr>
              <a:t>nar() </a:t>
            </a:r>
            <a:r>
              <a:rPr b="1" lang="en-US" sz="850" spc="-1" strike="noStrike">
                <a:solidFill>
                  <a:srgbClr val="ea580c"/>
                </a:solidFill>
                <a:latin typeface="Calibri"/>
                <a:ea typeface="Calibri"/>
              </a:rPr>
              <a:t>solo ve </a:t>
            </a:r>
            <a:r>
              <a:rPr b="1" lang="en-US" sz="850" spc="-1" strike="noStrike">
                <a:solidFill>
                  <a:srgbClr val="ea580c"/>
                </a:solidFill>
                <a:latin typeface="Calibri"/>
                <a:ea typeface="Calibri"/>
              </a:rPr>
              <a:t>ceros </a:t>
            </a:r>
            <a:r>
              <a:rPr b="1" lang="en-US" sz="850" spc="-1" strike="noStrike">
                <a:solidFill>
                  <a:srgbClr val="ea580c"/>
                </a:solidFill>
                <a:latin typeface="Calibri"/>
                <a:ea typeface="Calibri"/>
              </a:rPr>
              <a:t>(casillas </a:t>
            </a:r>
            <a:r>
              <a:rPr b="1" lang="en-US" sz="850" spc="-1" strike="noStrike">
                <a:solidFill>
                  <a:srgbClr val="ea580c"/>
                </a:solidFill>
                <a:latin typeface="Calibri"/>
                <a:ea typeface="Calibri"/>
              </a:rPr>
              <a:t>vacías) y </a:t>
            </a:r>
            <a:r>
              <a:rPr b="1" lang="en-US" sz="850" spc="-1" strike="noStrike">
                <a:solidFill>
                  <a:srgbClr val="ea580c"/>
                </a:solidFill>
                <a:latin typeface="Calibri"/>
                <a:ea typeface="Calibri"/>
              </a:rPr>
              <a:t>funcion</a:t>
            </a:r>
            <a:r>
              <a:rPr b="1" lang="en-US" sz="850" spc="-1" strike="noStrike">
                <a:solidFill>
                  <a:srgbClr val="ea580c"/>
                </a:solidFill>
                <a:latin typeface="Calibri"/>
                <a:ea typeface="Calibri"/>
              </a:rPr>
              <a:t>a </a:t>
            </a:r>
            <a:r>
              <a:rPr b="1" lang="en-US" sz="850" spc="-1" strike="noStrike">
                <a:solidFill>
                  <a:srgbClr val="ea580c"/>
                </a:solidFill>
                <a:latin typeface="Calibri"/>
                <a:ea typeface="Calibri"/>
              </a:rPr>
              <a:t>correct</a:t>
            </a:r>
            <a:r>
              <a:rPr b="1" lang="en-US" sz="850" spc="-1" strike="noStrike">
                <a:solidFill>
                  <a:srgbClr val="ea580c"/>
                </a:solidFill>
                <a:latin typeface="Calibri"/>
                <a:ea typeface="Calibri"/>
              </a:rPr>
              <a:t>amente</a:t>
            </a:r>
            <a:r>
              <a:rPr b="1" lang="en-US" sz="850" spc="-1" strike="noStrike">
                <a:solidFill>
                  <a:srgbClr val="ea580c"/>
                </a:solidFill>
                <a:latin typeface="Calibri"/>
                <a:ea typeface="Calibri"/>
              </a:rPr>
              <a:t>.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76" name="Shape 51"/>
          <p:cNvSpPr/>
          <p:nvPr/>
        </p:nvSpPr>
        <p:spPr>
          <a:xfrm>
            <a:off x="411480" y="4507920"/>
            <a:ext cx="6738840" cy="360"/>
          </a:xfrm>
          <a:prstGeom prst="line">
            <a:avLst/>
          </a:prstGeom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7" name="Shape 52"/>
          <p:cNvSpPr/>
          <p:nvPr/>
        </p:nvSpPr>
        <p:spPr>
          <a:xfrm>
            <a:off x="411480" y="4590360"/>
            <a:ext cx="182520" cy="1825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8" name="Text 133"/>
          <p:cNvSpPr/>
          <p:nvPr/>
        </p:nvSpPr>
        <p:spPr>
          <a:xfrm>
            <a:off x="411480" y="459036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279" name="Text 134"/>
          <p:cNvSpPr/>
          <p:nvPr/>
        </p:nvSpPr>
        <p:spPr>
          <a:xfrm>
            <a:off x="640080" y="4590360"/>
            <a:ext cx="1279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-1" strike="noStrike">
                <a:solidFill>
                  <a:srgbClr val="dc2626"/>
                </a:solidFill>
                <a:latin typeface="Courier New"/>
                <a:ea typeface="Courier New"/>
              </a:rPr>
              <a:t>soluc</a:t>
            </a:r>
            <a:r>
              <a:rPr b="1" lang="en-US" sz="850" spc="-1" strike="noStrike">
                <a:solidFill>
                  <a:srgbClr val="dc2626"/>
                </a:solidFill>
                <a:latin typeface="Courier New"/>
                <a:ea typeface="Courier New"/>
              </a:rPr>
              <a:t>ionar</a:t>
            </a:r>
            <a:r>
              <a:rPr b="1" lang="en-US" sz="850" spc="-1" strike="noStrike">
                <a:solidFill>
                  <a:srgbClr val="dc2626"/>
                </a:solidFill>
                <a:latin typeface="Courier New"/>
                <a:ea typeface="Courier New"/>
              </a:rPr>
              <a:t>.c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80" name="Text 135"/>
          <p:cNvSpPr/>
          <p:nvPr/>
        </p:nvSpPr>
        <p:spPr>
          <a:xfrm>
            <a:off x="1984320" y="4590360"/>
            <a:ext cx="51660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a1a2e"/>
                </a:solidFill>
                <a:latin typeface="Calibri"/>
                <a:ea typeface="Calibri"/>
              </a:rPr>
              <a:t>Bucle de verificación con </a:t>
            </a:r>
            <a:r>
              <a:rPr b="1" lang="en-US" sz="900" spc="-1" strike="noStrike">
                <a:solidFill>
                  <a:srgbClr val="1a1a2e"/>
                </a:solidFill>
                <a:latin typeface="Calibri"/>
                <a:ea typeface="Calibri"/>
              </a:rPr>
              <a:t>condición imposible — </a:t>
            </a:r>
            <a:r>
              <a:rPr b="1" lang="en-US" sz="900" spc="-1" strike="noStrike">
                <a:solidFill>
                  <a:srgbClr val="1a1a2e"/>
                </a:solidFill>
                <a:latin typeface="Calibri"/>
                <a:ea typeface="Calibri"/>
              </a:rPr>
              <a:t>falso positivo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81" name="Shape 56"/>
          <p:cNvSpPr/>
          <p:nvPr/>
        </p:nvSpPr>
        <p:spPr>
          <a:xfrm>
            <a:off x="411480" y="4800600"/>
            <a:ext cx="3314520" cy="1787400"/>
          </a:xfrm>
          <a:prstGeom prst="rect">
            <a:avLst/>
          </a:prstGeom>
          <a:solidFill>
            <a:srgbClr val="fee2e2"/>
          </a:solidFill>
          <a:ln w="635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Shape 58"/>
          <p:cNvSpPr/>
          <p:nvPr/>
        </p:nvSpPr>
        <p:spPr>
          <a:xfrm>
            <a:off x="411480" y="4800600"/>
            <a:ext cx="31680" cy="1787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3" name="Shape 60"/>
          <p:cNvSpPr/>
          <p:nvPr/>
        </p:nvSpPr>
        <p:spPr>
          <a:xfrm>
            <a:off x="3835800" y="4800600"/>
            <a:ext cx="3314520" cy="178740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4" name="Shape 62"/>
          <p:cNvSpPr/>
          <p:nvPr/>
        </p:nvSpPr>
        <p:spPr>
          <a:xfrm>
            <a:off x="3835800" y="4800600"/>
            <a:ext cx="31680" cy="1787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5" name="Text 136"/>
          <p:cNvSpPr/>
          <p:nvPr/>
        </p:nvSpPr>
        <p:spPr>
          <a:xfrm>
            <a:off x="502920" y="486468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if (posicion == 16)     // entra cuando pos=16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286" name="Text 137"/>
          <p:cNvSpPr/>
          <p:nvPr/>
        </p:nvSpPr>
        <p:spPr>
          <a:xfrm>
            <a:off x="502920" y="501552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{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287" name="Text 138"/>
          <p:cNvSpPr/>
          <p:nvPr/>
        </p:nvSpPr>
        <p:spPr>
          <a:xfrm>
            <a:off x="502920" y="516636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80" spc="-1" strike="noStrike">
                <a:solidFill>
                  <a:srgbClr val="dc2626"/>
                </a:solidFill>
                <a:latin typeface="Courier New"/>
                <a:ea typeface="Courier New"/>
              </a:rPr>
              <a:t>  </a:t>
            </a:r>
            <a:r>
              <a:rPr b="1" lang="en-US" sz="780" spc="-1" strike="noStrike">
                <a:solidFill>
                  <a:srgbClr val="dc2626"/>
                </a:solidFill>
                <a:latin typeface="Courier New"/>
                <a:ea typeface="Courier New"/>
              </a:rPr>
              <a:t>while </a:t>
            </a:r>
            <a:r>
              <a:rPr b="1" lang="en-US" sz="780" spc="-1" strike="noStrike">
                <a:solidFill>
                  <a:srgbClr val="dc2626"/>
                </a:solidFill>
                <a:latin typeface="Courier New"/>
                <a:ea typeface="Courier New"/>
              </a:rPr>
              <a:t>(posic</a:t>
            </a:r>
            <a:r>
              <a:rPr b="1" lang="en-US" sz="780" spc="-1" strike="noStrike">
                <a:solidFill>
                  <a:srgbClr val="dc2626"/>
                </a:solidFill>
                <a:latin typeface="Courier New"/>
                <a:ea typeface="Courier New"/>
              </a:rPr>
              <a:t>ion &lt; </a:t>
            </a:r>
            <a:r>
              <a:rPr b="1" lang="en-US" sz="780" spc="-1" strike="noStrike">
                <a:solidFill>
                  <a:srgbClr val="dc2626"/>
                </a:solidFill>
                <a:latin typeface="Courier New"/>
                <a:ea typeface="Courier New"/>
              </a:rPr>
              <a:t>16) // </a:t>
            </a:r>
            <a:r>
              <a:rPr b="1" lang="en-US" sz="780" spc="-1" strike="noStrike">
                <a:solidFill>
                  <a:srgbClr val="dc2626"/>
                </a:solidFill>
                <a:latin typeface="Courier New"/>
                <a:ea typeface="Courier New"/>
              </a:rPr>
              <a:t>NUNCA </a:t>
            </a:r>
            <a:r>
              <a:rPr b="1" lang="en-US" sz="780" spc="-1" strike="noStrike">
                <a:solidFill>
                  <a:srgbClr val="dc2626"/>
                </a:solidFill>
                <a:latin typeface="Courier New"/>
                <a:ea typeface="Courier New"/>
              </a:rPr>
              <a:t>entra: </a:t>
            </a:r>
            <a:r>
              <a:rPr b="1" lang="en-US" sz="780" spc="-1" strike="noStrike">
                <a:solidFill>
                  <a:srgbClr val="dc2626"/>
                </a:solidFill>
                <a:latin typeface="Courier New"/>
                <a:ea typeface="Courier New"/>
              </a:rPr>
              <a:t>16 &lt; </a:t>
            </a:r>
            <a:r>
              <a:rPr b="1" lang="en-US" sz="780" spc="-1" strike="noStrike">
                <a:solidFill>
                  <a:srgbClr val="dc2626"/>
                </a:solidFill>
                <a:latin typeface="Courier New"/>
                <a:ea typeface="Courier New"/>
              </a:rPr>
              <a:t>16 es </a:t>
            </a:r>
            <a:r>
              <a:rPr b="1" lang="en-US" sz="780" spc="-1" strike="noStrike">
                <a:solidFill>
                  <a:srgbClr val="dc2626"/>
                </a:solidFill>
                <a:latin typeface="Courier New"/>
                <a:ea typeface="Courier New"/>
              </a:rPr>
              <a:t>falso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288" name="Text 139"/>
          <p:cNvSpPr/>
          <p:nvPr/>
        </p:nvSpPr>
        <p:spPr>
          <a:xfrm>
            <a:off x="502920" y="531720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  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{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289" name="Text 140"/>
          <p:cNvSpPr/>
          <p:nvPr/>
        </p:nvSpPr>
        <p:spPr>
          <a:xfrm>
            <a:off x="502920" y="546804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    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if (!comprueba(..., posicion))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290" name="Text 141"/>
          <p:cNvSpPr/>
          <p:nvPr/>
        </p:nvSpPr>
        <p:spPr>
          <a:xfrm>
            <a:off x="502920" y="561888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      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return 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(0);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291" name="Text 142"/>
          <p:cNvSpPr/>
          <p:nvPr/>
        </p:nvSpPr>
        <p:spPr>
          <a:xfrm>
            <a:off x="502920" y="576972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    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posicion++;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292" name="Text 143"/>
          <p:cNvSpPr/>
          <p:nvPr/>
        </p:nvSpPr>
        <p:spPr>
          <a:xfrm>
            <a:off x="502920" y="592092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  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}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293" name="Text 144"/>
          <p:cNvSpPr/>
          <p:nvPr/>
        </p:nvSpPr>
        <p:spPr>
          <a:xfrm>
            <a:off x="502920" y="607176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  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return (1); // siempre llega aquí directamente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294" name="Text 145"/>
          <p:cNvSpPr/>
          <p:nvPr/>
        </p:nvSpPr>
        <p:spPr>
          <a:xfrm>
            <a:off x="502920" y="622260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}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295" name="Text 146"/>
          <p:cNvSpPr/>
          <p:nvPr/>
        </p:nvSpPr>
        <p:spPr>
          <a:xfrm>
            <a:off x="3890880" y="486468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if 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(posic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ion == 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16)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296" name="Text 147"/>
          <p:cNvSpPr/>
          <p:nvPr/>
        </p:nvSpPr>
        <p:spPr>
          <a:xfrm>
            <a:off x="3890880" y="501552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{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297" name="Text 148"/>
          <p:cNvSpPr/>
          <p:nvPr/>
        </p:nvSpPr>
        <p:spPr>
          <a:xfrm>
            <a:off x="3890880" y="516636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80" spc="-1" strike="noStrike">
                <a:solidFill>
                  <a:srgbClr val="16a34a"/>
                </a:solidFill>
                <a:latin typeface="Courier New"/>
                <a:ea typeface="Courier New"/>
              </a:rPr>
              <a:t>  </a:t>
            </a:r>
            <a:r>
              <a:rPr b="1" lang="en-US" sz="780" spc="-1" strike="noStrike">
                <a:solidFill>
                  <a:srgbClr val="16a34a"/>
                </a:solidFill>
                <a:latin typeface="Courier New"/>
                <a:ea typeface="Courier New"/>
              </a:rPr>
              <a:t>p = </a:t>
            </a:r>
            <a:r>
              <a:rPr b="1" lang="en-US" sz="780" spc="-1" strike="noStrike">
                <a:solidFill>
                  <a:srgbClr val="16a34a"/>
                </a:solidFill>
                <a:latin typeface="Courier New"/>
                <a:ea typeface="Courier New"/>
              </a:rPr>
              <a:t>0;     </a:t>
            </a:r>
            <a:r>
              <a:rPr b="1" lang="en-US" sz="780" spc="-1" strike="noStrike">
                <a:solidFill>
                  <a:srgbClr val="16a34a"/>
                </a:solidFill>
                <a:latin typeface="Courier New"/>
                <a:ea typeface="Courier New"/>
              </a:rPr>
              <a:t>       </a:t>
            </a:r>
            <a:r>
              <a:rPr b="1" lang="en-US" sz="780" spc="-1" strike="noStrike">
                <a:solidFill>
                  <a:srgbClr val="16a34a"/>
                </a:solidFill>
                <a:latin typeface="Courier New"/>
                <a:ea typeface="Courier New"/>
              </a:rPr>
              <a:t>   // </a:t>
            </a:r>
            <a:r>
              <a:rPr b="1" lang="en-US" sz="780" spc="-1" strike="noStrike">
                <a:solidFill>
                  <a:srgbClr val="16a34a"/>
                </a:solidFill>
                <a:latin typeface="Courier New"/>
                <a:ea typeface="Courier New"/>
              </a:rPr>
              <a:t>variab</a:t>
            </a:r>
            <a:r>
              <a:rPr b="1" lang="en-US" sz="780" spc="-1" strike="noStrike">
                <a:solidFill>
                  <a:srgbClr val="16a34a"/>
                </a:solidFill>
                <a:latin typeface="Courier New"/>
                <a:ea typeface="Courier New"/>
              </a:rPr>
              <a:t>le </a:t>
            </a:r>
            <a:r>
              <a:rPr b="1" lang="en-US" sz="780" spc="-1" strike="noStrike">
                <a:solidFill>
                  <a:srgbClr val="16a34a"/>
                </a:solidFill>
                <a:latin typeface="Courier New"/>
                <a:ea typeface="Courier New"/>
              </a:rPr>
              <a:t>separa</a:t>
            </a:r>
            <a:r>
              <a:rPr b="1" lang="en-US" sz="780" spc="-1" strike="noStrike">
                <a:solidFill>
                  <a:srgbClr val="16a34a"/>
                </a:solidFill>
                <a:latin typeface="Courier New"/>
                <a:ea typeface="Courier New"/>
              </a:rPr>
              <a:t>da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298" name="Text 149"/>
          <p:cNvSpPr/>
          <p:nvPr/>
        </p:nvSpPr>
        <p:spPr>
          <a:xfrm>
            <a:off x="3890880" y="531720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80" spc="-1" strike="noStrike">
                <a:solidFill>
                  <a:srgbClr val="16a34a"/>
                </a:solidFill>
                <a:latin typeface="Courier New"/>
                <a:ea typeface="Courier New"/>
              </a:rPr>
              <a:t>  </a:t>
            </a:r>
            <a:r>
              <a:rPr b="1" lang="en-US" sz="780" spc="-1" strike="noStrike">
                <a:solidFill>
                  <a:srgbClr val="16a34a"/>
                </a:solidFill>
                <a:latin typeface="Courier New"/>
                <a:ea typeface="Courier New"/>
              </a:rPr>
              <a:t>while </a:t>
            </a:r>
            <a:r>
              <a:rPr b="1" lang="en-US" sz="780" spc="-1" strike="noStrike">
                <a:solidFill>
                  <a:srgbClr val="16a34a"/>
                </a:solidFill>
                <a:latin typeface="Courier New"/>
                <a:ea typeface="Courier New"/>
              </a:rPr>
              <a:t>(p &lt; </a:t>
            </a:r>
            <a:r>
              <a:rPr b="1" lang="en-US" sz="780" spc="-1" strike="noStrike">
                <a:solidFill>
                  <a:srgbClr val="16a34a"/>
                </a:solidFill>
                <a:latin typeface="Courier New"/>
                <a:ea typeface="Courier New"/>
              </a:rPr>
              <a:t>16)    </a:t>
            </a:r>
            <a:r>
              <a:rPr b="1" lang="en-US" sz="780" spc="-1" strike="noStrike">
                <a:solidFill>
                  <a:srgbClr val="16a34a"/>
                </a:solidFill>
                <a:latin typeface="Courier New"/>
                <a:ea typeface="Courier New"/>
              </a:rPr>
              <a:t>   // </a:t>
            </a:r>
            <a:r>
              <a:rPr b="1" lang="en-US" sz="780" spc="-1" strike="noStrike">
                <a:solidFill>
                  <a:srgbClr val="16a34a"/>
                </a:solidFill>
                <a:latin typeface="Courier New"/>
                <a:ea typeface="Courier New"/>
              </a:rPr>
              <a:t>sí </a:t>
            </a:r>
            <a:r>
              <a:rPr b="1" lang="en-US" sz="780" spc="-1" strike="noStrike">
                <a:solidFill>
                  <a:srgbClr val="16a34a"/>
                </a:solidFill>
                <a:latin typeface="Courier New"/>
                <a:ea typeface="Courier New"/>
              </a:rPr>
              <a:t>entra: </a:t>
            </a:r>
            <a:r>
              <a:rPr b="1" lang="en-US" sz="780" spc="-1" strike="noStrike">
                <a:solidFill>
                  <a:srgbClr val="16a34a"/>
                </a:solidFill>
                <a:latin typeface="Courier New"/>
                <a:ea typeface="Courier New"/>
              </a:rPr>
              <a:t>0 &lt; 16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299" name="Text 150"/>
          <p:cNvSpPr/>
          <p:nvPr/>
        </p:nvSpPr>
        <p:spPr>
          <a:xfrm>
            <a:off x="3890880" y="546804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  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{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300" name="Text 151"/>
          <p:cNvSpPr/>
          <p:nvPr/>
        </p:nvSpPr>
        <p:spPr>
          <a:xfrm>
            <a:off x="3890880" y="561888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    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if 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(!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compru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eba(pi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stas, 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tabler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o, p))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301" name="Text 152"/>
          <p:cNvSpPr/>
          <p:nvPr/>
        </p:nvSpPr>
        <p:spPr>
          <a:xfrm>
            <a:off x="3890880" y="576972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      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return 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(0);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302" name="Text 153"/>
          <p:cNvSpPr/>
          <p:nvPr/>
        </p:nvSpPr>
        <p:spPr>
          <a:xfrm>
            <a:off x="3890880" y="592092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    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p++;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303" name="Text 154"/>
          <p:cNvSpPr/>
          <p:nvPr/>
        </p:nvSpPr>
        <p:spPr>
          <a:xfrm>
            <a:off x="3890880" y="607176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  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}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304" name="Text 155"/>
          <p:cNvSpPr/>
          <p:nvPr/>
        </p:nvSpPr>
        <p:spPr>
          <a:xfrm>
            <a:off x="3890880" y="622260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  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return 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(1); /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/ solo 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si las 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16 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pistas 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pasan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305" name="Text 156"/>
          <p:cNvSpPr/>
          <p:nvPr/>
        </p:nvSpPr>
        <p:spPr>
          <a:xfrm>
            <a:off x="3890880" y="637344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}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306" name="Shape 64"/>
          <p:cNvSpPr/>
          <p:nvPr/>
        </p:nvSpPr>
        <p:spPr>
          <a:xfrm>
            <a:off x="411480" y="6661440"/>
            <a:ext cx="6738840" cy="1389600"/>
          </a:xfrm>
          <a:prstGeom prst="rect">
            <a:avLst/>
          </a:prstGeom>
          <a:solidFill>
            <a:srgbClr val="fee2e2"/>
          </a:solidFill>
          <a:ln w="762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7" name="Shape 66"/>
          <p:cNvSpPr/>
          <p:nvPr/>
        </p:nvSpPr>
        <p:spPr>
          <a:xfrm>
            <a:off x="411480" y="6661440"/>
            <a:ext cx="31680" cy="1389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8" name="Text 157"/>
          <p:cNvSpPr/>
          <p:nvPr/>
        </p:nvSpPr>
        <p:spPr>
          <a:xfrm>
            <a:off x="502920" y="6716160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-1" strike="noStrike">
                <a:solidFill>
                  <a:srgbClr val="dc2626"/>
                </a:solidFill>
                <a:latin typeface="Calibri"/>
                <a:ea typeface="Calibri"/>
              </a:rPr>
              <a:t>⚡ </a:t>
            </a:r>
            <a:r>
              <a:rPr b="1" lang="en-US" sz="850" spc="-1" strike="noStrike">
                <a:solidFill>
                  <a:srgbClr val="dc2626"/>
                </a:solidFill>
                <a:latin typeface="Calibri"/>
                <a:ea typeface="Calibri"/>
              </a:rPr>
              <a:t>Impacto en ejecución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09" name="Text 158"/>
          <p:cNvSpPr/>
          <p:nvPr/>
        </p:nvSpPr>
        <p:spPr>
          <a:xfrm>
            <a:off x="521280" y="6908400"/>
            <a:ext cx="657432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Cuando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el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tablero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está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lleno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(posicio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n==16),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la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función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debe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verificar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que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cumple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las 16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pistas.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10" name="Text 159"/>
          <p:cNvSpPr/>
          <p:nvPr/>
        </p:nvSpPr>
        <p:spPr>
          <a:xfrm>
            <a:off x="521280" y="7091280"/>
            <a:ext cx="657432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En la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versión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original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, el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while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nunca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ejecuta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— salta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directa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mente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al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return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(1).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11" name="Text 160"/>
          <p:cNvSpPr/>
          <p:nvPr/>
        </p:nvSpPr>
        <p:spPr>
          <a:xfrm>
            <a:off x="521280" y="7274160"/>
            <a:ext cx="657432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-1" strike="noStrike">
                <a:solidFill>
                  <a:srgbClr val="dc2626"/>
                </a:solidFill>
                <a:latin typeface="Calibri"/>
                <a:ea typeface="Calibri"/>
              </a:rPr>
              <a:t>→ </a:t>
            </a:r>
            <a:r>
              <a:rPr b="1" lang="en-US" sz="850" spc="-1" strike="noStrike">
                <a:solidFill>
                  <a:srgbClr val="dc2626"/>
                </a:solidFill>
                <a:latin typeface="Calibri"/>
                <a:ea typeface="Calibri"/>
              </a:rPr>
              <a:t>El programa acepta CUALQUIER tablero completo como solución válida, aunque sea incorrecto.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12" name="Text 161"/>
          <p:cNvSpPr/>
          <p:nvPr/>
        </p:nvSpPr>
        <p:spPr>
          <a:xfrm>
            <a:off x="521280" y="7457040"/>
            <a:ext cx="657432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-1" strike="noStrike">
                <a:solidFill>
                  <a:srgbClr val="dc2626"/>
                </a:solidFill>
                <a:latin typeface="Calibri"/>
                <a:ea typeface="Calibri"/>
              </a:rPr>
              <a:t>→ </a:t>
            </a:r>
            <a:r>
              <a:rPr b="1" lang="en-US" sz="850" spc="-1" strike="noStrike">
                <a:solidFill>
                  <a:srgbClr val="dc2626"/>
                </a:solidFill>
                <a:latin typeface="Calibri"/>
                <a:ea typeface="Calibri"/>
              </a:rPr>
              <a:t>Con </a:t>
            </a:r>
            <a:r>
              <a:rPr b="1" lang="en-US" sz="850" spc="-1" strike="noStrike">
                <a:solidFill>
                  <a:srgbClr val="dc2626"/>
                </a:solidFill>
                <a:latin typeface="Calibri"/>
                <a:ea typeface="Calibri"/>
              </a:rPr>
              <a:t>entrada</a:t>
            </a:r>
            <a:r>
              <a:rPr b="1" lang="en-US" sz="850" spc="-1" strike="noStrike">
                <a:solidFill>
                  <a:srgbClr val="dc2626"/>
                </a:solidFill>
                <a:latin typeface="Calibri"/>
                <a:ea typeface="Calibri"/>
              </a:rPr>
              <a:t>s que </a:t>
            </a:r>
            <a:r>
              <a:rPr b="1" lang="en-US" sz="850" spc="-1" strike="noStrike">
                <a:solidFill>
                  <a:srgbClr val="dc2626"/>
                </a:solidFill>
                <a:latin typeface="Calibri"/>
                <a:ea typeface="Calibri"/>
              </a:rPr>
              <a:t>tienen </a:t>
            </a:r>
            <a:r>
              <a:rPr b="1" lang="en-US" sz="850" spc="-1" strike="noStrike">
                <a:solidFill>
                  <a:srgbClr val="dc2626"/>
                </a:solidFill>
                <a:latin typeface="Calibri"/>
                <a:ea typeface="Calibri"/>
              </a:rPr>
              <a:t>una </a:t>
            </a:r>
            <a:r>
              <a:rPr b="1" lang="en-US" sz="850" spc="-1" strike="noStrike">
                <a:solidFill>
                  <a:srgbClr val="dc2626"/>
                </a:solidFill>
                <a:latin typeface="Calibri"/>
                <a:ea typeface="Calibri"/>
              </a:rPr>
              <a:t>solució</a:t>
            </a:r>
            <a:r>
              <a:rPr b="1" lang="en-US" sz="850" spc="-1" strike="noStrike">
                <a:solidFill>
                  <a:srgbClr val="dc2626"/>
                </a:solidFill>
                <a:latin typeface="Calibri"/>
                <a:ea typeface="Calibri"/>
              </a:rPr>
              <a:t>n única, </a:t>
            </a:r>
            <a:r>
              <a:rPr b="1" lang="en-US" sz="850" spc="-1" strike="noStrike">
                <a:solidFill>
                  <a:srgbClr val="dc2626"/>
                </a:solidFill>
                <a:latin typeface="Calibri"/>
                <a:ea typeface="Calibri"/>
              </a:rPr>
              <a:t>el </a:t>
            </a:r>
            <a:r>
              <a:rPr b="1" lang="en-US" sz="850" spc="-1" strike="noStrike">
                <a:solidFill>
                  <a:srgbClr val="dc2626"/>
                </a:solidFill>
                <a:latin typeface="Calibri"/>
                <a:ea typeface="Calibri"/>
              </a:rPr>
              <a:t>primer </a:t>
            </a:r>
            <a:r>
              <a:rPr b="1" lang="en-US" sz="850" spc="-1" strike="noStrike">
                <a:solidFill>
                  <a:srgbClr val="dc2626"/>
                </a:solidFill>
                <a:latin typeface="Calibri"/>
                <a:ea typeface="Calibri"/>
              </a:rPr>
              <a:t>tablero </a:t>
            </a:r>
            <a:r>
              <a:rPr b="1" lang="en-US" sz="850" spc="-1" strike="noStrike">
                <a:solidFill>
                  <a:srgbClr val="dc2626"/>
                </a:solidFill>
                <a:latin typeface="Calibri"/>
                <a:ea typeface="Calibri"/>
              </a:rPr>
              <a:t>que </a:t>
            </a:r>
            <a:r>
              <a:rPr b="1" lang="en-US" sz="850" spc="-1" strike="noStrike">
                <a:solidFill>
                  <a:srgbClr val="dc2626"/>
                </a:solidFill>
                <a:latin typeface="Calibri"/>
                <a:ea typeface="Calibri"/>
              </a:rPr>
              <a:t>posicio</a:t>
            </a:r>
            <a:r>
              <a:rPr b="1" lang="en-US" sz="850" spc="-1" strike="noStrike">
                <a:solidFill>
                  <a:srgbClr val="dc2626"/>
                </a:solidFill>
                <a:latin typeface="Calibri"/>
                <a:ea typeface="Calibri"/>
              </a:rPr>
              <a:t>nar() </a:t>
            </a:r>
            <a:r>
              <a:rPr b="1" lang="en-US" sz="850" spc="-1" strike="noStrike">
                <a:solidFill>
                  <a:srgbClr val="dc2626"/>
                </a:solidFill>
                <a:latin typeface="Calibri"/>
                <a:ea typeface="Calibri"/>
              </a:rPr>
              <a:t>acepta </a:t>
            </a:r>
            <a:r>
              <a:rPr b="1" lang="en-US" sz="850" spc="-1" strike="noStrike">
                <a:solidFill>
                  <a:srgbClr val="dc2626"/>
                </a:solidFill>
                <a:latin typeface="Calibri"/>
                <a:ea typeface="Calibri"/>
              </a:rPr>
              <a:t>se </a:t>
            </a:r>
            <a:r>
              <a:rPr b="1" lang="en-US" sz="850" spc="-1" strike="noStrike">
                <a:solidFill>
                  <a:srgbClr val="dc2626"/>
                </a:solidFill>
                <a:latin typeface="Calibri"/>
                <a:ea typeface="Calibri"/>
              </a:rPr>
              <a:t>devuelv</a:t>
            </a:r>
            <a:r>
              <a:rPr b="1" lang="en-US" sz="850" spc="-1" strike="noStrike">
                <a:solidFill>
                  <a:srgbClr val="dc2626"/>
                </a:solidFill>
                <a:latin typeface="Calibri"/>
                <a:ea typeface="Calibri"/>
              </a:rPr>
              <a:t>e.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13" name="Text 162"/>
          <p:cNvSpPr/>
          <p:nvPr/>
        </p:nvSpPr>
        <p:spPr>
          <a:xfrm>
            <a:off x="521280" y="7639920"/>
            <a:ext cx="657432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-1" strike="noStrike">
                <a:solidFill>
                  <a:srgbClr val="dc2626"/>
                </a:solidFill>
                <a:latin typeface="Calibri"/>
                <a:ea typeface="Calibri"/>
              </a:rPr>
              <a:t>→ </a:t>
            </a:r>
            <a:r>
              <a:rPr b="1" lang="en-US" sz="850" spc="-1" strike="noStrike">
                <a:solidFill>
                  <a:srgbClr val="dc2626"/>
                </a:solidFill>
                <a:latin typeface="Calibri"/>
                <a:ea typeface="Calibri"/>
              </a:rPr>
              <a:t>El </a:t>
            </a:r>
            <a:r>
              <a:rPr b="1" lang="en-US" sz="850" spc="-1" strike="noStrike">
                <a:solidFill>
                  <a:srgbClr val="dc2626"/>
                </a:solidFill>
                <a:latin typeface="Calibri"/>
                <a:ea typeface="Calibri"/>
              </a:rPr>
              <a:t>resulta</a:t>
            </a:r>
            <a:r>
              <a:rPr b="1" lang="en-US" sz="850" spc="-1" strike="noStrike">
                <a:solidFill>
                  <a:srgbClr val="dc2626"/>
                </a:solidFill>
                <a:latin typeface="Calibri"/>
                <a:ea typeface="Calibri"/>
              </a:rPr>
              <a:t>do </a:t>
            </a:r>
            <a:r>
              <a:rPr b="1" lang="en-US" sz="850" spc="-1" strike="noStrike">
                <a:solidFill>
                  <a:srgbClr val="dc2626"/>
                </a:solidFill>
                <a:latin typeface="Calibri"/>
                <a:ea typeface="Calibri"/>
              </a:rPr>
              <a:t>impres</a:t>
            </a:r>
            <a:r>
              <a:rPr b="1" lang="en-US" sz="850" spc="-1" strike="noStrike">
                <a:solidFill>
                  <a:srgbClr val="dc2626"/>
                </a:solidFill>
                <a:latin typeface="Calibri"/>
                <a:ea typeface="Calibri"/>
              </a:rPr>
              <a:t>o no </a:t>
            </a:r>
            <a:r>
              <a:rPr b="1" lang="en-US" sz="850" spc="-1" strike="noStrike">
                <a:solidFill>
                  <a:srgbClr val="dc2626"/>
                </a:solidFill>
                <a:latin typeface="Calibri"/>
                <a:ea typeface="Calibri"/>
              </a:rPr>
              <a:t>cumplía </a:t>
            </a:r>
            <a:r>
              <a:rPr b="1" lang="en-US" sz="850" spc="-1" strike="noStrike">
                <a:solidFill>
                  <a:srgbClr val="dc2626"/>
                </a:solidFill>
                <a:latin typeface="Calibri"/>
                <a:ea typeface="Calibri"/>
              </a:rPr>
              <a:t>las </a:t>
            </a:r>
            <a:r>
              <a:rPr b="1" lang="en-US" sz="850" spc="-1" strike="noStrike">
                <a:solidFill>
                  <a:srgbClr val="dc2626"/>
                </a:solidFill>
                <a:latin typeface="Calibri"/>
                <a:ea typeface="Calibri"/>
              </a:rPr>
              <a:t>pistas </a:t>
            </a:r>
            <a:r>
              <a:rPr b="1" lang="en-US" sz="850" spc="-1" strike="noStrike">
                <a:solidFill>
                  <a:srgbClr val="dc2626"/>
                </a:solidFill>
                <a:latin typeface="Calibri"/>
                <a:ea typeface="Calibri"/>
              </a:rPr>
              <a:t>— los </a:t>
            </a:r>
            <a:r>
              <a:rPr b="1" lang="en-US" sz="850" spc="-1" strike="noStrike">
                <a:solidFill>
                  <a:srgbClr val="dc2626"/>
                </a:solidFill>
                <a:latin typeface="Calibri"/>
                <a:ea typeface="Calibri"/>
              </a:rPr>
              <a:t>número</a:t>
            </a:r>
            <a:r>
              <a:rPr b="1" lang="en-US" sz="850" spc="-1" strike="noStrike">
                <a:solidFill>
                  <a:srgbClr val="dc2626"/>
                </a:solidFill>
                <a:latin typeface="Calibri"/>
                <a:ea typeface="Calibri"/>
              </a:rPr>
              <a:t>s eran </a:t>
            </a:r>
            <a:r>
              <a:rPr b="1" lang="en-US" sz="850" spc="-1" strike="noStrike">
                <a:solidFill>
                  <a:srgbClr val="dc2626"/>
                </a:solidFill>
                <a:latin typeface="Calibri"/>
                <a:ea typeface="Calibri"/>
              </a:rPr>
              <a:t>válidos </a:t>
            </a:r>
            <a:r>
              <a:rPr b="1" lang="en-US" sz="850" spc="-1" strike="noStrike">
                <a:solidFill>
                  <a:srgbClr val="dc2626"/>
                </a:solidFill>
                <a:latin typeface="Calibri"/>
                <a:ea typeface="Calibri"/>
              </a:rPr>
              <a:t>por </a:t>
            </a:r>
            <a:r>
              <a:rPr b="1" lang="en-US" sz="850" spc="-1" strike="noStrike">
                <a:solidFill>
                  <a:srgbClr val="dc2626"/>
                </a:solidFill>
                <a:latin typeface="Calibri"/>
                <a:ea typeface="Calibri"/>
              </a:rPr>
              <a:t>fila/col </a:t>
            </a:r>
            <a:r>
              <a:rPr b="1" lang="en-US" sz="850" spc="-1" strike="noStrike">
                <a:solidFill>
                  <a:srgbClr val="dc2626"/>
                </a:solidFill>
                <a:latin typeface="Calibri"/>
                <a:ea typeface="Calibri"/>
              </a:rPr>
              <a:t>pero no </a:t>
            </a:r>
            <a:r>
              <a:rPr b="1" lang="en-US" sz="850" spc="-1" strike="noStrike">
                <a:solidFill>
                  <a:srgbClr val="dc2626"/>
                </a:solidFill>
                <a:latin typeface="Calibri"/>
                <a:ea typeface="Calibri"/>
              </a:rPr>
              <a:t>por </a:t>
            </a:r>
            <a:r>
              <a:rPr b="1" lang="en-US" sz="850" spc="-1" strike="noStrike">
                <a:solidFill>
                  <a:srgbClr val="dc2626"/>
                </a:solidFill>
                <a:latin typeface="Calibri"/>
                <a:ea typeface="Calibri"/>
              </a:rPr>
              <a:t>visibilid</a:t>
            </a:r>
            <a:r>
              <a:rPr b="1" lang="en-US" sz="850" spc="-1" strike="noStrike">
                <a:solidFill>
                  <a:srgbClr val="dc2626"/>
                </a:solidFill>
                <a:latin typeface="Calibri"/>
                <a:ea typeface="Calibri"/>
              </a:rPr>
              <a:t>ad.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14" name="Text 163"/>
          <p:cNvSpPr/>
          <p:nvPr/>
        </p:nvSpPr>
        <p:spPr>
          <a:xfrm>
            <a:off x="521280" y="7822800"/>
            <a:ext cx="657432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-1" strike="noStrike">
                <a:solidFill>
                  <a:srgbClr val="dc2626"/>
                </a:solidFill>
                <a:latin typeface="Calibri"/>
                <a:ea typeface="Calibri"/>
              </a:rPr>
              <a:t>→ </a:t>
            </a:r>
            <a:r>
              <a:rPr b="1" lang="en-US" sz="850" spc="-1" strike="noStrike">
                <a:solidFill>
                  <a:srgbClr val="dc2626"/>
                </a:solidFill>
                <a:latin typeface="Calibri"/>
                <a:ea typeface="Calibri"/>
              </a:rPr>
              <a:t>Con p separado, se verifican las 16 pistas reales antes de aceptar la solución.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15" name="Shape 70"/>
          <p:cNvSpPr/>
          <p:nvPr/>
        </p:nvSpPr>
        <p:spPr>
          <a:xfrm>
            <a:off x="411480" y="10396440"/>
            <a:ext cx="6738840" cy="360"/>
          </a:xfrm>
          <a:prstGeom prst="line">
            <a:avLst/>
          </a:prstGeom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6" name="Text 164"/>
          <p:cNvSpPr/>
          <p:nvPr/>
        </p:nvSpPr>
        <p:spPr>
          <a:xfrm>
            <a:off x="411480" y="10415160"/>
            <a:ext cx="3369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00" spc="-1" strike="noStrike">
                <a:solidFill>
                  <a:srgbClr val="6b7280"/>
                </a:solidFill>
                <a:latin typeface="Calibri"/>
                <a:ea typeface="Calibri"/>
              </a:rPr>
              <a:t>Rush 01 </a:t>
            </a:r>
            <a:r>
              <a:rPr b="0" lang="en-US" sz="700" spc="-1" strike="noStrike">
                <a:solidFill>
                  <a:srgbClr val="6b7280"/>
                </a:solidFill>
                <a:latin typeface="Calibri"/>
                <a:ea typeface="Calibri"/>
              </a:rPr>
              <a:t>— </a:t>
            </a:r>
            <a:r>
              <a:rPr b="0" lang="en-US" sz="700" spc="-1" strike="noStrike">
                <a:solidFill>
                  <a:srgbClr val="6b7280"/>
                </a:solidFill>
                <a:latin typeface="Calibri"/>
                <a:ea typeface="Calibri"/>
              </a:rPr>
              <a:t>Skyscrape</a:t>
            </a:r>
            <a:r>
              <a:rPr b="0" lang="en-US" sz="700" spc="-1" strike="noStrike">
                <a:solidFill>
                  <a:srgbClr val="6b7280"/>
                </a:solidFill>
                <a:latin typeface="Calibri"/>
                <a:ea typeface="Calibri"/>
              </a:rPr>
              <a:t>rs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317" name="Text 165"/>
          <p:cNvSpPr/>
          <p:nvPr/>
        </p:nvSpPr>
        <p:spPr>
          <a:xfrm>
            <a:off x="3781080" y="10415160"/>
            <a:ext cx="3369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00" spc="-1" strike="noStrike">
                <a:solidFill>
                  <a:srgbClr val="6b7280"/>
                </a:solidFill>
                <a:latin typeface="Calibri"/>
                <a:ea typeface="Calibri"/>
              </a:rPr>
              <a:t>Página 1 de 2  ·  Comparativa original vs. corregida</a:t>
            </a:r>
            <a:endParaRPr b="0" lang="en-US" sz="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Text 45"/>
          <p:cNvSpPr/>
          <p:nvPr/>
        </p:nvSpPr>
        <p:spPr>
          <a:xfrm>
            <a:off x="411480" y="411480"/>
            <a:ext cx="673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2e"/>
                </a:solidFill>
                <a:latin typeface="Georgia"/>
                <a:ea typeface="Georgia"/>
              </a:rPr>
              <a:t>Co</a:t>
            </a:r>
            <a:r>
              <a:rPr b="1" lang="en-US" sz="1300" spc="-1" strike="noStrike">
                <a:solidFill>
                  <a:srgbClr val="1a1a2e"/>
                </a:solidFill>
                <a:latin typeface="Georgia"/>
                <a:ea typeface="Georgia"/>
              </a:rPr>
              <a:t>mp</a:t>
            </a:r>
            <a:r>
              <a:rPr b="1" lang="en-US" sz="1300" spc="-1" strike="noStrike">
                <a:solidFill>
                  <a:srgbClr val="1a1a2e"/>
                </a:solidFill>
                <a:latin typeface="Georgia"/>
                <a:ea typeface="Georgia"/>
              </a:rPr>
              <a:t>ara</a:t>
            </a:r>
            <a:r>
              <a:rPr b="1" lang="en-US" sz="1300" spc="-1" strike="noStrike">
                <a:solidFill>
                  <a:srgbClr val="1a1a2e"/>
                </a:solidFill>
                <a:latin typeface="Georgia"/>
                <a:ea typeface="Georgia"/>
              </a:rPr>
              <a:t>tiva</a:t>
            </a:r>
            <a:r>
              <a:rPr b="1" lang="en-US" sz="1300" spc="-1" strike="noStrike">
                <a:solidFill>
                  <a:srgbClr val="1a1a2e"/>
                </a:solidFill>
                <a:latin typeface="Georgia"/>
                <a:ea typeface="Georgia"/>
              </a:rPr>
              <a:t>: </a:t>
            </a:r>
            <a:r>
              <a:rPr b="1" lang="en-US" sz="1300" spc="-1" strike="noStrike">
                <a:solidFill>
                  <a:srgbClr val="1a1a2e"/>
                </a:solidFill>
                <a:latin typeface="Georgia"/>
                <a:ea typeface="Georgia"/>
              </a:rPr>
              <a:t>ori</a:t>
            </a:r>
            <a:r>
              <a:rPr b="1" lang="en-US" sz="1300" spc="-1" strike="noStrike">
                <a:solidFill>
                  <a:srgbClr val="1a1a2e"/>
                </a:solidFill>
                <a:latin typeface="Georgia"/>
                <a:ea typeface="Georgia"/>
              </a:rPr>
              <a:t>gin</a:t>
            </a:r>
            <a:r>
              <a:rPr b="1" lang="en-US" sz="1300" spc="-1" strike="noStrike">
                <a:solidFill>
                  <a:srgbClr val="1a1a2e"/>
                </a:solidFill>
                <a:latin typeface="Georgia"/>
                <a:ea typeface="Georgia"/>
              </a:rPr>
              <a:t>al </a:t>
            </a:r>
            <a:r>
              <a:rPr b="1" lang="en-US" sz="1300" spc="-1" strike="noStrike">
                <a:solidFill>
                  <a:srgbClr val="1a1a2e"/>
                </a:solidFill>
                <a:latin typeface="Georgia"/>
                <a:ea typeface="Georgia"/>
              </a:rPr>
              <a:t>vs. </a:t>
            </a:r>
            <a:r>
              <a:rPr b="1" lang="en-US" sz="1300" spc="-1" strike="noStrike">
                <a:solidFill>
                  <a:srgbClr val="1a1a2e"/>
                </a:solidFill>
                <a:latin typeface="Georgia"/>
                <a:ea typeface="Georgia"/>
              </a:rPr>
              <a:t>cor</a:t>
            </a:r>
            <a:r>
              <a:rPr b="1" lang="en-US" sz="1300" spc="-1" strike="noStrike">
                <a:solidFill>
                  <a:srgbClr val="1a1a2e"/>
                </a:solidFill>
                <a:latin typeface="Georgia"/>
                <a:ea typeface="Georgia"/>
              </a:rPr>
              <a:t>reg</a:t>
            </a:r>
            <a:r>
              <a:rPr b="1" lang="en-US" sz="1300" spc="-1" strike="noStrike">
                <a:solidFill>
                  <a:srgbClr val="1a1a2e"/>
                </a:solidFill>
                <a:latin typeface="Georgia"/>
                <a:ea typeface="Georgia"/>
              </a:rPr>
              <a:t>ida </a:t>
            </a:r>
            <a:r>
              <a:rPr b="1" lang="en-US" sz="1300" spc="-1" strike="noStrike">
                <a:solidFill>
                  <a:srgbClr val="1a1a2e"/>
                </a:solidFill>
                <a:latin typeface="Georgia"/>
                <a:ea typeface="Georgia"/>
              </a:rPr>
              <a:t>— </a:t>
            </a:r>
            <a:r>
              <a:rPr b="1" lang="en-US" sz="1300" spc="-1" strike="noStrike">
                <a:solidFill>
                  <a:srgbClr val="1a1a2e"/>
                </a:solidFill>
                <a:latin typeface="Georgia"/>
                <a:ea typeface="Georgia"/>
              </a:rPr>
              <a:t>imp</a:t>
            </a:r>
            <a:r>
              <a:rPr b="1" lang="en-US" sz="1300" spc="-1" strike="noStrike">
                <a:solidFill>
                  <a:srgbClr val="1a1a2e"/>
                </a:solidFill>
                <a:latin typeface="Georgia"/>
                <a:ea typeface="Georgia"/>
              </a:rPr>
              <a:t>act</a:t>
            </a:r>
            <a:r>
              <a:rPr b="1" lang="en-US" sz="1300" spc="-1" strike="noStrike">
                <a:solidFill>
                  <a:srgbClr val="1a1a2e"/>
                </a:solidFill>
                <a:latin typeface="Georgia"/>
                <a:ea typeface="Georgia"/>
              </a:rPr>
              <a:t>o </a:t>
            </a:r>
            <a:r>
              <a:rPr b="1" lang="en-US" sz="1300" spc="-1" strike="noStrike">
                <a:solidFill>
                  <a:srgbClr val="1a1a2e"/>
                </a:solidFill>
                <a:latin typeface="Georgia"/>
                <a:ea typeface="Georgia"/>
              </a:rPr>
              <a:t>en </a:t>
            </a:r>
            <a:r>
              <a:rPr b="1" lang="en-US" sz="1300" spc="-1" strike="noStrike">
                <a:solidFill>
                  <a:srgbClr val="1a1a2e"/>
                </a:solidFill>
                <a:latin typeface="Georgia"/>
                <a:ea typeface="Georgia"/>
              </a:rPr>
              <a:t>el </a:t>
            </a:r>
            <a:r>
              <a:rPr b="1" lang="en-US" sz="1300" spc="-1" strike="noStrike">
                <a:solidFill>
                  <a:srgbClr val="1a1a2e"/>
                </a:solidFill>
                <a:latin typeface="Georgia"/>
                <a:ea typeface="Georgia"/>
              </a:rPr>
              <a:t>pro</a:t>
            </a:r>
            <a:r>
              <a:rPr b="1" lang="en-US" sz="1300" spc="-1" strike="noStrike">
                <a:solidFill>
                  <a:srgbClr val="1a1a2e"/>
                </a:solidFill>
                <a:latin typeface="Georgia"/>
                <a:ea typeface="Georgia"/>
              </a:rPr>
              <a:t>gra</a:t>
            </a:r>
            <a:r>
              <a:rPr b="1" lang="en-US" sz="1300" spc="-1" strike="noStrike">
                <a:solidFill>
                  <a:srgbClr val="1a1a2e"/>
                </a:solidFill>
                <a:latin typeface="Georgia"/>
                <a:ea typeface="Georgia"/>
              </a:rPr>
              <a:t>ma </a:t>
            </a:r>
            <a:r>
              <a:rPr b="1" lang="en-US" sz="1300" spc="-1" strike="noStrike">
                <a:solidFill>
                  <a:srgbClr val="1a1a2e"/>
                </a:solidFill>
                <a:latin typeface="Georgia"/>
                <a:ea typeface="Georgia"/>
              </a:rPr>
              <a:t>(co</a:t>
            </a:r>
            <a:r>
              <a:rPr b="1" lang="en-US" sz="1300" spc="-1" strike="noStrike">
                <a:solidFill>
                  <a:srgbClr val="1a1a2e"/>
                </a:solidFill>
                <a:latin typeface="Georgia"/>
                <a:ea typeface="Georgia"/>
              </a:rPr>
              <a:t>nt.)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19" name="Shape 9"/>
          <p:cNvSpPr/>
          <p:nvPr/>
        </p:nvSpPr>
        <p:spPr>
          <a:xfrm>
            <a:off x="411480" y="713160"/>
            <a:ext cx="6738840" cy="360"/>
          </a:xfrm>
          <a:prstGeom prst="line">
            <a:avLst/>
          </a:prstGeom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0" name="Shape 15"/>
          <p:cNvSpPr/>
          <p:nvPr/>
        </p:nvSpPr>
        <p:spPr>
          <a:xfrm>
            <a:off x="411480" y="795600"/>
            <a:ext cx="3314520" cy="219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1" name="Text 67"/>
          <p:cNvSpPr/>
          <p:nvPr/>
        </p:nvSpPr>
        <p:spPr>
          <a:xfrm>
            <a:off x="466200" y="795600"/>
            <a:ext cx="3223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✗  </a:t>
            </a: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Versión </a:t>
            </a: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original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22" name="Shape 23"/>
          <p:cNvSpPr/>
          <p:nvPr/>
        </p:nvSpPr>
        <p:spPr>
          <a:xfrm>
            <a:off x="3835800" y="795600"/>
            <a:ext cx="3314520" cy="219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3" name="Text 79"/>
          <p:cNvSpPr/>
          <p:nvPr/>
        </p:nvSpPr>
        <p:spPr>
          <a:xfrm>
            <a:off x="3890880" y="795600"/>
            <a:ext cx="3223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✓  </a:t>
            </a: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Versión corregida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24" name="Shape 82"/>
          <p:cNvSpPr/>
          <p:nvPr/>
        </p:nvSpPr>
        <p:spPr>
          <a:xfrm>
            <a:off x="411480" y="1078920"/>
            <a:ext cx="182520" cy="1825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5" name="Text 81"/>
          <p:cNvSpPr/>
          <p:nvPr/>
        </p:nvSpPr>
        <p:spPr>
          <a:xfrm>
            <a:off x="411480" y="107892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326" name="Text 86"/>
          <p:cNvSpPr/>
          <p:nvPr/>
        </p:nvSpPr>
        <p:spPr>
          <a:xfrm>
            <a:off x="640080" y="1078920"/>
            <a:ext cx="1279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-1" strike="noStrike">
                <a:solidFill>
                  <a:srgbClr val="7c3aed"/>
                </a:solidFill>
                <a:latin typeface="Courier New"/>
                <a:ea typeface="Courier New"/>
              </a:rPr>
              <a:t>comprobar.c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27" name="Text 87"/>
          <p:cNvSpPr/>
          <p:nvPr/>
        </p:nvSpPr>
        <p:spPr>
          <a:xfrm>
            <a:off x="1984320" y="1078920"/>
            <a:ext cx="51660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a1a2e"/>
                </a:solidFill>
                <a:latin typeface="Calibri"/>
                <a:ea typeface="Calibri"/>
              </a:rPr>
              <a:t>Subfun</a:t>
            </a:r>
            <a:r>
              <a:rPr b="1" lang="en-US" sz="900" spc="-1" strike="noStrike">
                <a:solidFill>
                  <a:srgbClr val="1a1a2e"/>
                </a:solidFill>
                <a:latin typeface="Calibri"/>
                <a:ea typeface="Calibri"/>
              </a:rPr>
              <a:t>ciones </a:t>
            </a:r>
            <a:r>
              <a:rPr b="1" lang="en-US" sz="900" spc="-1" strike="noStrike">
                <a:solidFill>
                  <a:srgbClr val="1a1a2e"/>
                </a:solidFill>
                <a:latin typeface="Calibri"/>
                <a:ea typeface="Calibri"/>
              </a:rPr>
              <a:t>sin </a:t>
            </a:r>
            <a:r>
              <a:rPr b="1" lang="en-US" sz="900" spc="-1" strike="noStrike">
                <a:solidFill>
                  <a:srgbClr val="1a1a2e"/>
                </a:solidFill>
                <a:latin typeface="Calibri"/>
                <a:ea typeface="Calibri"/>
              </a:rPr>
              <a:t>parám</a:t>
            </a:r>
            <a:r>
              <a:rPr b="1" lang="en-US" sz="900" spc="-1" strike="noStrike">
                <a:solidFill>
                  <a:srgbClr val="1a1a2e"/>
                </a:solidFill>
                <a:latin typeface="Calibri"/>
                <a:ea typeface="Calibri"/>
              </a:rPr>
              <a:t>etro </a:t>
            </a:r>
            <a:r>
              <a:rPr b="1" lang="en-US" sz="900" spc="-1" strike="noStrike">
                <a:solidFill>
                  <a:srgbClr val="1a1a2e"/>
                </a:solidFill>
                <a:latin typeface="Calibri"/>
                <a:ea typeface="Calibri"/>
              </a:rPr>
              <a:t>linea </a:t>
            </a:r>
            <a:r>
              <a:rPr b="1" lang="en-US" sz="900" spc="-1" strike="noStrike">
                <a:solidFill>
                  <a:srgbClr val="1a1a2e"/>
                </a:solidFill>
                <a:latin typeface="Calibri"/>
                <a:ea typeface="Calibri"/>
              </a:rPr>
              <a:t>— </a:t>
            </a:r>
            <a:r>
              <a:rPr b="1" lang="en-US" sz="900" spc="-1" strike="noStrike">
                <a:solidFill>
                  <a:srgbClr val="1a1a2e"/>
                </a:solidFill>
                <a:latin typeface="Calibri"/>
                <a:ea typeface="Calibri"/>
              </a:rPr>
              <a:t>siempr</a:t>
            </a:r>
            <a:r>
              <a:rPr b="1" lang="en-US" sz="900" spc="-1" strike="noStrike">
                <a:solidFill>
                  <a:srgbClr val="1a1a2e"/>
                </a:solidFill>
                <a:latin typeface="Calibri"/>
                <a:ea typeface="Calibri"/>
              </a:rPr>
              <a:t>e </a:t>
            </a:r>
            <a:r>
              <a:rPr b="1" lang="en-US" sz="900" spc="-1" strike="noStrike">
                <a:solidFill>
                  <a:srgbClr val="1a1a2e"/>
                </a:solidFill>
                <a:latin typeface="Calibri"/>
                <a:ea typeface="Calibri"/>
              </a:rPr>
              <a:t>compru</a:t>
            </a:r>
            <a:r>
              <a:rPr b="1" lang="en-US" sz="900" spc="-1" strike="noStrike">
                <a:solidFill>
                  <a:srgbClr val="1a1a2e"/>
                </a:solidFill>
                <a:latin typeface="Calibri"/>
                <a:ea typeface="Calibri"/>
              </a:rPr>
              <a:t>eban lo </a:t>
            </a:r>
            <a:r>
              <a:rPr b="1" lang="en-US" sz="900" spc="-1" strike="noStrike">
                <a:solidFill>
                  <a:srgbClr val="1a1a2e"/>
                </a:solidFill>
                <a:latin typeface="Calibri"/>
                <a:ea typeface="Calibri"/>
              </a:rPr>
              <a:t>mismo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28" name="Shape 83"/>
          <p:cNvSpPr/>
          <p:nvPr/>
        </p:nvSpPr>
        <p:spPr>
          <a:xfrm>
            <a:off x="411480" y="1289160"/>
            <a:ext cx="3314520" cy="1334520"/>
          </a:xfrm>
          <a:prstGeom prst="rect">
            <a:avLst/>
          </a:prstGeom>
          <a:solidFill>
            <a:srgbClr val="fee2e2"/>
          </a:solidFill>
          <a:ln w="635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9" name="Shape 84"/>
          <p:cNvSpPr/>
          <p:nvPr/>
        </p:nvSpPr>
        <p:spPr>
          <a:xfrm>
            <a:off x="411480" y="1289160"/>
            <a:ext cx="31680" cy="1334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0" name="Shape 85"/>
          <p:cNvSpPr/>
          <p:nvPr/>
        </p:nvSpPr>
        <p:spPr>
          <a:xfrm>
            <a:off x="3835800" y="1289160"/>
            <a:ext cx="3314520" cy="133452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1" name="Shape 87"/>
          <p:cNvSpPr/>
          <p:nvPr/>
        </p:nvSpPr>
        <p:spPr>
          <a:xfrm>
            <a:off x="3835800" y="1289160"/>
            <a:ext cx="31680" cy="1334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2" name="Text 88"/>
          <p:cNvSpPr/>
          <p:nvPr/>
        </p:nvSpPr>
        <p:spPr>
          <a:xfrm>
            <a:off x="502920" y="135324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// firma sin parámetro linea: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333" name="Text 89"/>
          <p:cNvSpPr/>
          <p:nvPr/>
        </p:nvSpPr>
        <p:spPr>
          <a:xfrm>
            <a:off x="502920" y="150408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int 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compru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eba_no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rmal1(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int 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**tabl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ero)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334" name="Text 90"/>
          <p:cNvSpPr/>
          <p:nvPr/>
        </p:nvSpPr>
        <p:spPr>
          <a:xfrm>
            <a:off x="502920" y="165492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{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335" name="Text 91"/>
          <p:cNvSpPr/>
          <p:nvPr/>
        </p:nvSpPr>
        <p:spPr>
          <a:xfrm>
            <a:off x="502920" y="180612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  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int i = 0;  int j = 0; // j=0 nunca cambia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336" name="Text 92"/>
          <p:cNvSpPr/>
          <p:nvPr/>
        </p:nvSpPr>
        <p:spPr>
          <a:xfrm>
            <a:off x="502920" y="195696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  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while (i &lt; 4)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337" name="Text 93"/>
          <p:cNvSpPr/>
          <p:nvPr/>
        </p:nvSpPr>
        <p:spPr>
          <a:xfrm>
            <a:off x="502920" y="210780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80" spc="-1" strike="noStrike">
                <a:solidFill>
                  <a:srgbClr val="dc2626"/>
                </a:solidFill>
                <a:latin typeface="Courier New"/>
                <a:ea typeface="Courier New"/>
              </a:rPr>
              <a:t>    </a:t>
            </a:r>
            <a:r>
              <a:rPr b="1" lang="en-US" sz="780" spc="-1" strike="noStrike">
                <a:solidFill>
                  <a:srgbClr val="dc2626"/>
                </a:solidFill>
                <a:latin typeface="Courier New"/>
                <a:ea typeface="Courier New"/>
              </a:rPr>
              <a:t>tablero[</a:t>
            </a:r>
            <a:r>
              <a:rPr b="1" lang="en-US" sz="780" spc="-1" strike="noStrike">
                <a:solidFill>
                  <a:srgbClr val="dc2626"/>
                </a:solidFill>
                <a:latin typeface="Courier New"/>
                <a:ea typeface="Courier New"/>
              </a:rPr>
              <a:t>i]</a:t>
            </a:r>
            <a:r>
              <a:rPr b="1" lang="en-US" sz="780" spc="-1" strike="noStrike">
                <a:solidFill>
                  <a:srgbClr val="dc2626"/>
                </a:solidFill>
                <a:latin typeface="Courier New"/>
                <a:ea typeface="Courier New"/>
              </a:rPr>
              <a:t>[j]; // </a:t>
            </a:r>
            <a:r>
              <a:rPr b="1" lang="en-US" sz="780" spc="-1" strike="noStrike">
                <a:solidFill>
                  <a:srgbClr val="dc2626"/>
                </a:solidFill>
                <a:latin typeface="Courier New"/>
                <a:ea typeface="Courier New"/>
              </a:rPr>
              <a:t>siempre </a:t>
            </a:r>
            <a:r>
              <a:rPr b="1" lang="en-US" sz="780" spc="-1" strike="noStrike">
                <a:solidFill>
                  <a:srgbClr val="dc2626"/>
                </a:solidFill>
                <a:latin typeface="Courier New"/>
                <a:ea typeface="Courier New"/>
              </a:rPr>
              <a:t>columna </a:t>
            </a:r>
            <a:r>
              <a:rPr b="1" lang="en-US" sz="780" spc="-1" strike="noStrike">
                <a:solidFill>
                  <a:srgbClr val="dc2626"/>
                </a:solidFill>
                <a:latin typeface="Courier New"/>
                <a:ea typeface="Courier New"/>
              </a:rPr>
              <a:t>0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338" name="Text 94"/>
          <p:cNvSpPr/>
          <p:nvPr/>
        </p:nvSpPr>
        <p:spPr>
          <a:xfrm>
            <a:off x="502920" y="225864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}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339" name="Text 95"/>
          <p:cNvSpPr/>
          <p:nvPr/>
        </p:nvSpPr>
        <p:spPr>
          <a:xfrm>
            <a:off x="502920" y="240948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// las 4 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subfuncio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nes igual 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— 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columna/f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ila fija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340" name="Text 96"/>
          <p:cNvSpPr/>
          <p:nvPr/>
        </p:nvSpPr>
        <p:spPr>
          <a:xfrm>
            <a:off x="3890880" y="135324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// firma con parámetro linea: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341" name="Text 98"/>
          <p:cNvSpPr/>
          <p:nvPr/>
        </p:nvSpPr>
        <p:spPr>
          <a:xfrm>
            <a:off x="3890880" y="150408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int comprueba_normal1(int **tablero, int linea)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342" name="Text 106"/>
          <p:cNvSpPr/>
          <p:nvPr/>
        </p:nvSpPr>
        <p:spPr>
          <a:xfrm>
            <a:off x="3890880" y="165492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{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343" name="Text 107"/>
          <p:cNvSpPr/>
          <p:nvPr/>
        </p:nvSpPr>
        <p:spPr>
          <a:xfrm>
            <a:off x="3890880" y="180612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  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int i = 0;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344" name="Text 108"/>
          <p:cNvSpPr/>
          <p:nvPr/>
        </p:nvSpPr>
        <p:spPr>
          <a:xfrm>
            <a:off x="3890880" y="195696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  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while 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(i &lt; 4)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345" name="Text 109"/>
          <p:cNvSpPr/>
          <p:nvPr/>
        </p:nvSpPr>
        <p:spPr>
          <a:xfrm>
            <a:off x="3890880" y="210780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80" spc="-1" strike="noStrike">
                <a:solidFill>
                  <a:srgbClr val="16a34a"/>
                </a:solidFill>
                <a:latin typeface="Courier New"/>
                <a:ea typeface="Courier New"/>
              </a:rPr>
              <a:t>    </a:t>
            </a:r>
            <a:r>
              <a:rPr b="1" lang="en-US" sz="780" spc="-1" strike="noStrike">
                <a:solidFill>
                  <a:srgbClr val="16a34a"/>
                </a:solidFill>
                <a:latin typeface="Courier New"/>
                <a:ea typeface="Courier New"/>
              </a:rPr>
              <a:t>tablero[i][linea]; // columna correcta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346" name="Text 110"/>
          <p:cNvSpPr/>
          <p:nvPr/>
        </p:nvSpPr>
        <p:spPr>
          <a:xfrm>
            <a:off x="3890880" y="225864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}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347" name="Text 111"/>
          <p:cNvSpPr/>
          <p:nvPr/>
        </p:nvSpPr>
        <p:spPr>
          <a:xfrm>
            <a:off x="3890880" y="240948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// linea = posicion % 4, calculado en comprueba()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348" name="Shape 88"/>
          <p:cNvSpPr/>
          <p:nvPr/>
        </p:nvSpPr>
        <p:spPr>
          <a:xfrm>
            <a:off x="411480" y="2697480"/>
            <a:ext cx="6738840" cy="1389600"/>
          </a:xfrm>
          <a:prstGeom prst="rect">
            <a:avLst/>
          </a:prstGeom>
          <a:solidFill>
            <a:srgbClr val="ede9fe"/>
          </a:solidFill>
          <a:ln w="762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9" name="Shape 89"/>
          <p:cNvSpPr/>
          <p:nvPr/>
        </p:nvSpPr>
        <p:spPr>
          <a:xfrm>
            <a:off x="411480" y="2697480"/>
            <a:ext cx="31680" cy="1389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0" name="Text 112"/>
          <p:cNvSpPr/>
          <p:nvPr/>
        </p:nvSpPr>
        <p:spPr>
          <a:xfrm>
            <a:off x="502920" y="2752200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-1" strike="noStrike">
                <a:solidFill>
                  <a:srgbClr val="7c3aed"/>
                </a:solidFill>
                <a:latin typeface="Calibri"/>
                <a:ea typeface="Calibri"/>
              </a:rPr>
              <a:t>⚡ </a:t>
            </a:r>
            <a:r>
              <a:rPr b="1" lang="en-US" sz="850" spc="-1" strike="noStrike">
                <a:solidFill>
                  <a:srgbClr val="7c3aed"/>
                </a:solidFill>
                <a:latin typeface="Calibri"/>
                <a:ea typeface="Calibri"/>
              </a:rPr>
              <a:t>Impacto en ejecución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51" name="Text 113"/>
          <p:cNvSpPr/>
          <p:nvPr/>
        </p:nvSpPr>
        <p:spPr>
          <a:xfrm>
            <a:off x="521280" y="2944440"/>
            <a:ext cx="657432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comprueb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a() calcula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linea =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posicion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% 4 para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saber qué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fila o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columna </a:t>
            </a: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verificar.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52" name="Text 114"/>
          <p:cNvSpPr/>
          <p:nvPr/>
        </p:nvSpPr>
        <p:spPr>
          <a:xfrm>
            <a:off x="521280" y="3127320"/>
            <a:ext cx="657432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Pero si las subfunciones no reciben linea, ese cálculo no sirve de nada — se ignora.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53" name="Text 115"/>
          <p:cNvSpPr/>
          <p:nvPr/>
        </p:nvSpPr>
        <p:spPr>
          <a:xfrm>
            <a:off x="521280" y="3310200"/>
            <a:ext cx="657432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-1" strike="noStrike">
                <a:solidFill>
                  <a:srgbClr val="7c3aed"/>
                </a:solidFill>
                <a:latin typeface="Calibri"/>
                <a:ea typeface="Calibri"/>
              </a:rPr>
              <a:t>→ </a:t>
            </a:r>
            <a:r>
              <a:rPr b="1" lang="en-US" sz="850" spc="-1" strike="noStrike">
                <a:solidFill>
                  <a:srgbClr val="7c3aed"/>
                </a:solidFill>
                <a:latin typeface="Calibri"/>
                <a:ea typeface="Calibri"/>
              </a:rPr>
              <a:t>comprueba</a:t>
            </a:r>
            <a:r>
              <a:rPr b="1" lang="en-US" sz="850" spc="-1" strike="noStrike">
                <a:solidFill>
                  <a:srgbClr val="7c3aed"/>
                </a:solidFill>
                <a:latin typeface="Calibri"/>
                <a:ea typeface="Calibri"/>
              </a:rPr>
              <a:t>_normal1 </a:t>
            </a:r>
            <a:r>
              <a:rPr b="1" lang="en-US" sz="850" spc="-1" strike="noStrike">
                <a:solidFill>
                  <a:srgbClr val="7c3aed"/>
                </a:solidFill>
                <a:latin typeface="Calibri"/>
                <a:ea typeface="Calibri"/>
              </a:rPr>
              <a:t>siempre </a:t>
            </a:r>
            <a:r>
              <a:rPr b="1" lang="en-US" sz="850" spc="-1" strike="noStrike">
                <a:solidFill>
                  <a:srgbClr val="7c3aed"/>
                </a:solidFill>
                <a:latin typeface="Calibri"/>
                <a:ea typeface="Calibri"/>
              </a:rPr>
              <a:t>miraba la </a:t>
            </a:r>
            <a:r>
              <a:rPr b="1" lang="en-US" sz="850" spc="-1" strike="noStrike">
                <a:solidFill>
                  <a:srgbClr val="7c3aed"/>
                </a:solidFill>
                <a:latin typeface="Calibri"/>
                <a:ea typeface="Calibri"/>
              </a:rPr>
              <a:t>columna 0, </a:t>
            </a:r>
            <a:r>
              <a:rPr b="1" lang="en-US" sz="850" spc="-1" strike="noStrike">
                <a:solidFill>
                  <a:srgbClr val="7c3aed"/>
                </a:solidFill>
                <a:latin typeface="Calibri"/>
                <a:ea typeface="Calibri"/>
              </a:rPr>
              <a:t>para todas </a:t>
            </a:r>
            <a:r>
              <a:rPr b="1" lang="en-US" sz="850" spc="-1" strike="noStrike">
                <a:solidFill>
                  <a:srgbClr val="7c3aed"/>
                </a:solidFill>
                <a:latin typeface="Calibri"/>
                <a:ea typeface="Calibri"/>
              </a:rPr>
              <a:t>las </a:t>
            </a:r>
            <a:r>
              <a:rPr b="1" lang="en-US" sz="850" spc="-1" strike="noStrike">
                <a:solidFill>
                  <a:srgbClr val="7c3aed"/>
                </a:solidFill>
                <a:latin typeface="Calibri"/>
                <a:ea typeface="Calibri"/>
              </a:rPr>
              <a:t>posiciones </a:t>
            </a:r>
            <a:r>
              <a:rPr b="1" lang="en-US" sz="850" spc="-1" strike="noStrike">
                <a:solidFill>
                  <a:srgbClr val="7c3aed"/>
                </a:solidFill>
                <a:latin typeface="Calibri"/>
                <a:ea typeface="Calibri"/>
              </a:rPr>
              <a:t>0, 1, 2 y 3.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54" name="Text 116"/>
          <p:cNvSpPr/>
          <p:nvPr/>
        </p:nvSpPr>
        <p:spPr>
          <a:xfrm>
            <a:off x="521280" y="3493080"/>
            <a:ext cx="657432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-1" strike="noStrike">
                <a:solidFill>
                  <a:srgbClr val="7c3aed"/>
                </a:solidFill>
                <a:latin typeface="Calibri"/>
                <a:ea typeface="Calibri"/>
              </a:rPr>
              <a:t>→ </a:t>
            </a:r>
            <a:r>
              <a:rPr b="1" lang="en-US" sz="850" spc="-1" strike="noStrike">
                <a:solidFill>
                  <a:srgbClr val="7c3aed"/>
                </a:solidFill>
                <a:latin typeface="Calibri"/>
                <a:ea typeface="Calibri"/>
              </a:rPr>
              <a:t>Las pistas de la columna 1, 2 y 3 nunca se verificaban correctamente — siempre comparaba col 0.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55" name="Text 117"/>
          <p:cNvSpPr/>
          <p:nvPr/>
        </p:nvSpPr>
        <p:spPr>
          <a:xfrm>
            <a:off x="521280" y="3675960"/>
            <a:ext cx="657432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-1" strike="noStrike">
                <a:solidFill>
                  <a:srgbClr val="7c3aed"/>
                </a:solidFill>
                <a:latin typeface="Calibri"/>
                <a:ea typeface="Calibri"/>
              </a:rPr>
              <a:t>→ </a:t>
            </a:r>
            <a:r>
              <a:rPr b="1" lang="en-US" sz="850" spc="-1" strike="noStrike">
                <a:solidFill>
                  <a:srgbClr val="7c3aed"/>
                </a:solidFill>
                <a:latin typeface="Calibri"/>
                <a:ea typeface="Calibri"/>
              </a:rPr>
              <a:t>El programa podía aceptar tableros donde las columnas 1-3 no cumplen las pistas superiores.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56" name="Text 118"/>
          <p:cNvSpPr/>
          <p:nvPr/>
        </p:nvSpPr>
        <p:spPr>
          <a:xfrm>
            <a:off x="521280" y="3858840"/>
            <a:ext cx="657432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-1" strike="noStrike">
                <a:solidFill>
                  <a:srgbClr val="7c3aed"/>
                </a:solidFill>
                <a:latin typeface="Calibri"/>
                <a:ea typeface="Calibri"/>
              </a:rPr>
              <a:t>→ </a:t>
            </a:r>
            <a:r>
              <a:rPr b="1" lang="en-US" sz="850" spc="-1" strike="noStrike">
                <a:solidFill>
                  <a:srgbClr val="7c3aed"/>
                </a:solidFill>
                <a:latin typeface="Calibri"/>
                <a:ea typeface="Calibri"/>
              </a:rPr>
              <a:t>Con linea como parámetro, cada llamada verifica la columna (o fila) que le corresponde.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57" name="Shape 90"/>
          <p:cNvSpPr/>
          <p:nvPr/>
        </p:nvSpPr>
        <p:spPr>
          <a:xfrm>
            <a:off x="411480" y="4142160"/>
            <a:ext cx="6738840" cy="360"/>
          </a:xfrm>
          <a:prstGeom prst="line">
            <a:avLst/>
          </a:prstGeom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8" name="Shape 91"/>
          <p:cNvSpPr/>
          <p:nvPr/>
        </p:nvSpPr>
        <p:spPr>
          <a:xfrm>
            <a:off x="411480" y="4224600"/>
            <a:ext cx="182520" cy="1825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9" name="Text 166"/>
          <p:cNvSpPr/>
          <p:nvPr/>
        </p:nvSpPr>
        <p:spPr>
          <a:xfrm>
            <a:off x="411480" y="422460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360" name="Text 167"/>
          <p:cNvSpPr/>
          <p:nvPr/>
        </p:nvSpPr>
        <p:spPr>
          <a:xfrm>
            <a:off x="640080" y="4224600"/>
            <a:ext cx="1279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-1" strike="noStrike">
                <a:solidFill>
                  <a:srgbClr val="2563eb"/>
                </a:solidFill>
                <a:latin typeface="Courier New"/>
                <a:ea typeface="Courier New"/>
              </a:rPr>
              <a:t>comproba</a:t>
            </a:r>
            <a:r>
              <a:rPr b="1" lang="en-US" sz="850" spc="-1" strike="noStrike">
                <a:solidFill>
                  <a:srgbClr val="2563eb"/>
                </a:solidFill>
                <a:latin typeface="Courier New"/>
                <a:ea typeface="Courier New"/>
              </a:rPr>
              <a:t>r.c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61" name="Text 168"/>
          <p:cNvSpPr/>
          <p:nvPr/>
        </p:nvSpPr>
        <p:spPr>
          <a:xfrm>
            <a:off x="1984320" y="4224600"/>
            <a:ext cx="51660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a1a2e"/>
                </a:solidFill>
                <a:latin typeface="Calibri"/>
                <a:ea typeface="Calibri"/>
              </a:rPr>
              <a:t>Índices invertidos en normal2 y reverse2 — segmentation fault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62" name="Shape 92"/>
          <p:cNvSpPr/>
          <p:nvPr/>
        </p:nvSpPr>
        <p:spPr>
          <a:xfrm>
            <a:off x="411480" y="4434840"/>
            <a:ext cx="3314520" cy="1334520"/>
          </a:xfrm>
          <a:prstGeom prst="rect">
            <a:avLst/>
          </a:prstGeom>
          <a:solidFill>
            <a:srgbClr val="fee2e2"/>
          </a:solidFill>
          <a:ln w="635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3" name="Shape 93"/>
          <p:cNvSpPr/>
          <p:nvPr/>
        </p:nvSpPr>
        <p:spPr>
          <a:xfrm>
            <a:off x="411480" y="4434840"/>
            <a:ext cx="31680" cy="1334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4" name="Shape 94"/>
          <p:cNvSpPr/>
          <p:nvPr/>
        </p:nvSpPr>
        <p:spPr>
          <a:xfrm>
            <a:off x="3835800" y="4434840"/>
            <a:ext cx="3314520" cy="133452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5" name="Shape 95"/>
          <p:cNvSpPr/>
          <p:nvPr/>
        </p:nvSpPr>
        <p:spPr>
          <a:xfrm>
            <a:off x="3835800" y="4434840"/>
            <a:ext cx="31680" cy="1334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6" name="Text 169"/>
          <p:cNvSpPr/>
          <p:nvPr/>
        </p:nvSpPr>
        <p:spPr>
          <a:xfrm>
            <a:off x="502920" y="449892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/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/ 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n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o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r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m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a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l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2 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— 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p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a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r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a 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p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i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s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t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a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s 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i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z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q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u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i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e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r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d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a 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(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p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o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s 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8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-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1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1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)</a:t>
            </a: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: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367" name="Text 170"/>
          <p:cNvSpPr/>
          <p:nvPr/>
        </p:nvSpPr>
        <p:spPr>
          <a:xfrm>
            <a:off x="502920" y="464976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int i = 0;              // i no cambia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368" name="Text 171"/>
          <p:cNvSpPr/>
          <p:nvPr/>
        </p:nvSpPr>
        <p:spPr>
          <a:xfrm>
            <a:off x="502920" y="480060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while (linea &lt; 4)       // itera linea como columna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369" name="Text 172"/>
          <p:cNvSpPr/>
          <p:nvPr/>
        </p:nvSpPr>
        <p:spPr>
          <a:xfrm>
            <a:off x="502920" y="495144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  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tablero[i][linea];    // fila siempre 0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370" name="Text 173"/>
          <p:cNvSpPr/>
          <p:nvPr/>
        </p:nvSpPr>
        <p:spPr>
          <a:xfrm>
            <a:off x="502920" y="510228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// reverse2 — para pistas derecha (pos 12-15):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371" name="Text 174"/>
          <p:cNvSpPr/>
          <p:nvPr/>
        </p:nvSpPr>
        <p:spPr>
          <a:xfrm>
            <a:off x="502920" y="525312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int i = 3;              // i no cambia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372" name="Text 175"/>
          <p:cNvSpPr/>
          <p:nvPr/>
        </p:nvSpPr>
        <p:spPr>
          <a:xfrm>
            <a:off x="502920" y="540396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while (linea &gt;= 0)      // itera linea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373" name="Text 176"/>
          <p:cNvSpPr/>
          <p:nvPr/>
        </p:nvSpPr>
        <p:spPr>
          <a:xfrm>
            <a:off x="502920" y="555516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  </a:t>
            </a: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tablero[i][linea];    // fila siempre 3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374" name="Text 177"/>
          <p:cNvSpPr/>
          <p:nvPr/>
        </p:nvSpPr>
        <p:spPr>
          <a:xfrm>
            <a:off x="3890880" y="449892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// normal2 — CORRECTO: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375" name="Text 178"/>
          <p:cNvSpPr/>
          <p:nvPr/>
        </p:nvSpPr>
        <p:spPr>
          <a:xfrm>
            <a:off x="3890880" y="464976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int j = 0;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376" name="Text 179"/>
          <p:cNvSpPr/>
          <p:nvPr/>
        </p:nvSpPr>
        <p:spPr>
          <a:xfrm>
            <a:off x="3890880" y="480060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while (j &lt; 4)           // itera columna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377" name="Text 180"/>
          <p:cNvSpPr/>
          <p:nvPr/>
        </p:nvSpPr>
        <p:spPr>
          <a:xfrm>
            <a:off x="3890880" y="495144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80" spc="-1" strike="noStrike">
                <a:solidFill>
                  <a:srgbClr val="16a34a"/>
                </a:solidFill>
                <a:latin typeface="Courier New"/>
                <a:ea typeface="Courier New"/>
              </a:rPr>
              <a:t>  </a:t>
            </a:r>
            <a:r>
              <a:rPr b="1" lang="en-US" sz="780" spc="-1" strike="noStrike">
                <a:solidFill>
                  <a:srgbClr val="16a34a"/>
                </a:solidFill>
                <a:latin typeface="Courier New"/>
                <a:ea typeface="Courier New"/>
              </a:rPr>
              <a:t>tablero[linea][j];    // fila=linea ✓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378" name="Text 181"/>
          <p:cNvSpPr/>
          <p:nvPr/>
        </p:nvSpPr>
        <p:spPr>
          <a:xfrm>
            <a:off x="3890880" y="510228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80" spc="-1" strike="noStrike">
                <a:solidFill>
                  <a:srgbClr val="9ca3af"/>
                </a:solidFill>
                <a:latin typeface="Courier New"/>
                <a:ea typeface="Courier New"/>
              </a:rPr>
              <a:t>// reverse2 — CORRECTO: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379" name="Text 182"/>
          <p:cNvSpPr/>
          <p:nvPr/>
        </p:nvSpPr>
        <p:spPr>
          <a:xfrm>
            <a:off x="3890880" y="525312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int j = 3;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380" name="Text 183"/>
          <p:cNvSpPr/>
          <p:nvPr/>
        </p:nvSpPr>
        <p:spPr>
          <a:xfrm>
            <a:off x="3890880" y="540396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" spc="-1" strike="noStrike">
                <a:solidFill>
                  <a:srgbClr val="374151"/>
                </a:solidFill>
                <a:latin typeface="Courier New"/>
                <a:ea typeface="Courier New"/>
              </a:rPr>
              <a:t>while (j &gt;= 0)          // itera columna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381" name="Text 184"/>
          <p:cNvSpPr/>
          <p:nvPr/>
        </p:nvSpPr>
        <p:spPr>
          <a:xfrm>
            <a:off x="3890880" y="5555160"/>
            <a:ext cx="31863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80" spc="-1" strike="noStrike">
                <a:solidFill>
                  <a:srgbClr val="16a34a"/>
                </a:solidFill>
                <a:latin typeface="Courier New"/>
                <a:ea typeface="Courier New"/>
              </a:rPr>
              <a:t>  </a:t>
            </a:r>
            <a:r>
              <a:rPr b="1" lang="en-US" sz="780" spc="-1" strike="noStrike">
                <a:solidFill>
                  <a:srgbClr val="16a34a"/>
                </a:solidFill>
                <a:latin typeface="Courier New"/>
                <a:ea typeface="Courier New"/>
              </a:rPr>
              <a:t>tablero[linea][j];    // fila=linea ✓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382" name="Shape 96"/>
          <p:cNvSpPr/>
          <p:nvPr/>
        </p:nvSpPr>
        <p:spPr>
          <a:xfrm>
            <a:off x="411480" y="5843160"/>
            <a:ext cx="6738840" cy="1389600"/>
          </a:xfrm>
          <a:prstGeom prst="rect">
            <a:avLst/>
          </a:prstGeom>
          <a:solidFill>
            <a:srgbClr val="dbeafe"/>
          </a:solidFill>
          <a:ln w="762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3" name="Shape 97"/>
          <p:cNvSpPr/>
          <p:nvPr/>
        </p:nvSpPr>
        <p:spPr>
          <a:xfrm>
            <a:off x="411480" y="5843160"/>
            <a:ext cx="31680" cy="1389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4" name="Text 185"/>
          <p:cNvSpPr/>
          <p:nvPr/>
        </p:nvSpPr>
        <p:spPr>
          <a:xfrm>
            <a:off x="502920" y="5897880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-1" strike="noStrike">
                <a:solidFill>
                  <a:srgbClr val="2563eb"/>
                </a:solidFill>
                <a:latin typeface="Calibri"/>
                <a:ea typeface="Calibri"/>
              </a:rPr>
              <a:t>⚡ </a:t>
            </a:r>
            <a:r>
              <a:rPr b="1" lang="en-US" sz="850" spc="-1" strike="noStrike">
                <a:solidFill>
                  <a:srgbClr val="2563eb"/>
                </a:solidFill>
                <a:latin typeface="Calibri"/>
                <a:ea typeface="Calibri"/>
              </a:rPr>
              <a:t>Impacto en ejecución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85" name="Text 186"/>
          <p:cNvSpPr/>
          <p:nvPr/>
        </p:nvSpPr>
        <p:spPr>
          <a:xfrm>
            <a:off x="521280" y="6089760"/>
            <a:ext cx="657432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Para pistas izquierda/derecha (pos 8-15), linea es la FILA a recorrer y j es la columna que varía.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86" name="Text 187"/>
          <p:cNvSpPr/>
          <p:nvPr/>
        </p:nvSpPr>
        <p:spPr>
          <a:xfrm>
            <a:off x="521280" y="6272640"/>
            <a:ext cx="657432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374151"/>
                </a:solidFill>
                <a:latin typeface="Calibri"/>
                <a:ea typeface="Calibri"/>
              </a:rPr>
              <a:t>El código original usaba tablero[i][linea]: i fijo (0 o 3) y linea como columna — exactamente al revés.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87" name="Text 188"/>
          <p:cNvSpPr/>
          <p:nvPr/>
        </p:nvSpPr>
        <p:spPr>
          <a:xfrm>
            <a:off x="521280" y="6455520"/>
            <a:ext cx="657432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-1" strike="noStrike">
                <a:solidFill>
                  <a:srgbClr val="2563eb"/>
                </a:solidFill>
                <a:latin typeface="Calibri"/>
                <a:ea typeface="Calibri"/>
              </a:rPr>
              <a:t>→ </a:t>
            </a:r>
            <a:r>
              <a:rPr b="1" lang="en-US" sz="850" spc="-1" strike="noStrike">
                <a:solidFill>
                  <a:srgbClr val="2563eb"/>
                </a:solidFill>
                <a:latin typeface="Calibri"/>
                <a:ea typeface="Calibri"/>
              </a:rPr>
              <a:t>Las pistas de izquierda/derecha siempre miraban la fila 0 o fila 3 — nunca las filas 1 y 2.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88" name="Text 189"/>
          <p:cNvSpPr/>
          <p:nvPr/>
        </p:nvSpPr>
        <p:spPr>
          <a:xfrm>
            <a:off x="521280" y="6638400"/>
            <a:ext cx="657432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-1" strike="noStrike">
                <a:solidFill>
                  <a:srgbClr val="2563eb"/>
                </a:solidFill>
                <a:latin typeface="Calibri"/>
                <a:ea typeface="Calibri"/>
              </a:rPr>
              <a:t>→ </a:t>
            </a:r>
            <a:r>
              <a:rPr b="1" lang="en-US" sz="850" spc="-1" strike="noStrike">
                <a:solidFill>
                  <a:srgbClr val="2563eb"/>
                </a:solidFill>
                <a:latin typeface="Calibri"/>
                <a:ea typeface="Calibri"/>
              </a:rPr>
              <a:t>Además, </a:t>
            </a:r>
            <a:r>
              <a:rPr b="1" lang="en-US" sz="850" spc="-1" strike="noStrike">
                <a:solidFill>
                  <a:srgbClr val="2563eb"/>
                </a:solidFill>
                <a:latin typeface="Calibri"/>
                <a:ea typeface="Calibri"/>
              </a:rPr>
              <a:t>cuando </a:t>
            </a:r>
            <a:r>
              <a:rPr b="1" lang="en-US" sz="850" spc="-1" strike="noStrike">
                <a:solidFill>
                  <a:srgbClr val="2563eb"/>
                </a:solidFill>
                <a:latin typeface="Calibri"/>
                <a:ea typeface="Calibri"/>
              </a:rPr>
              <a:t>linea </a:t>
            </a:r>
            <a:r>
              <a:rPr b="1" lang="en-US" sz="850" spc="-1" strike="noStrike">
                <a:solidFill>
                  <a:srgbClr val="2563eb"/>
                </a:solidFill>
                <a:latin typeface="Calibri"/>
                <a:ea typeface="Calibri"/>
              </a:rPr>
              <a:t>viene </a:t>
            </a:r>
            <a:r>
              <a:rPr b="1" lang="en-US" sz="850" spc="-1" strike="noStrike">
                <a:solidFill>
                  <a:srgbClr val="2563eb"/>
                </a:solidFill>
                <a:latin typeface="Calibri"/>
                <a:ea typeface="Calibri"/>
              </a:rPr>
              <a:t>como 0 </a:t>
            </a:r>
            <a:r>
              <a:rPr b="1" lang="en-US" sz="850" spc="-1" strike="noStrike">
                <a:solidFill>
                  <a:srgbClr val="2563eb"/>
                </a:solidFill>
                <a:latin typeface="Calibri"/>
                <a:ea typeface="Calibri"/>
              </a:rPr>
              <a:t>en </a:t>
            </a:r>
            <a:r>
              <a:rPr b="1" lang="en-US" sz="850" spc="-1" strike="noStrike">
                <a:solidFill>
                  <a:srgbClr val="2563eb"/>
                </a:solidFill>
                <a:latin typeface="Calibri"/>
                <a:ea typeface="Calibri"/>
              </a:rPr>
              <a:t>reverse2 </a:t>
            </a:r>
            <a:r>
              <a:rPr b="1" lang="en-US" sz="850" spc="-1" strike="noStrike">
                <a:solidFill>
                  <a:srgbClr val="2563eb"/>
                </a:solidFill>
                <a:latin typeface="Calibri"/>
                <a:ea typeface="Calibri"/>
              </a:rPr>
              <a:t>y </a:t>
            </a:r>
            <a:r>
              <a:rPr b="1" lang="en-US" sz="850" spc="-1" strike="noStrike">
                <a:solidFill>
                  <a:srgbClr val="2563eb"/>
                </a:solidFill>
                <a:latin typeface="Calibri"/>
                <a:ea typeface="Calibri"/>
              </a:rPr>
              <a:t>decreme</a:t>
            </a:r>
            <a:r>
              <a:rPr b="1" lang="en-US" sz="850" spc="-1" strike="noStrike">
                <a:solidFill>
                  <a:srgbClr val="2563eb"/>
                </a:solidFill>
                <a:latin typeface="Calibri"/>
                <a:ea typeface="Calibri"/>
              </a:rPr>
              <a:t>nta hasta </a:t>
            </a:r>
            <a:r>
              <a:rPr b="1" lang="en-US" sz="850" spc="-1" strike="noStrike">
                <a:solidFill>
                  <a:srgbClr val="2563eb"/>
                </a:solidFill>
                <a:latin typeface="Calibri"/>
                <a:ea typeface="Calibri"/>
              </a:rPr>
              <a:t>-1, </a:t>
            </a:r>
            <a:r>
              <a:rPr b="1" lang="en-US" sz="850" spc="-1" strike="noStrike">
                <a:solidFill>
                  <a:srgbClr val="2563eb"/>
                </a:solidFill>
                <a:latin typeface="Calibri"/>
                <a:ea typeface="Calibri"/>
              </a:rPr>
              <a:t>accede a </a:t>
            </a:r>
            <a:r>
              <a:rPr b="1" lang="en-US" sz="850" spc="-1" strike="noStrike">
                <a:solidFill>
                  <a:srgbClr val="2563eb"/>
                </a:solidFill>
                <a:latin typeface="Calibri"/>
                <a:ea typeface="Calibri"/>
              </a:rPr>
              <a:t>tablero[</a:t>
            </a:r>
            <a:r>
              <a:rPr b="1" lang="en-US" sz="850" spc="-1" strike="noStrike">
                <a:solidFill>
                  <a:srgbClr val="2563eb"/>
                </a:solidFill>
                <a:latin typeface="Calibri"/>
                <a:ea typeface="Calibri"/>
              </a:rPr>
              <a:t>3][-1].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89" name="Text 190"/>
          <p:cNvSpPr/>
          <p:nvPr/>
        </p:nvSpPr>
        <p:spPr>
          <a:xfrm>
            <a:off x="521280" y="6821280"/>
            <a:ext cx="657432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-1" strike="noStrike">
                <a:solidFill>
                  <a:srgbClr val="2563eb"/>
                </a:solidFill>
                <a:latin typeface="Calibri"/>
                <a:ea typeface="Calibri"/>
              </a:rPr>
              <a:t>→ </a:t>
            </a:r>
            <a:r>
              <a:rPr b="1" lang="en-US" sz="850" spc="-1" strike="noStrike">
                <a:solidFill>
                  <a:srgbClr val="2563eb"/>
                </a:solidFill>
                <a:latin typeface="Calibri"/>
                <a:ea typeface="Calibri"/>
              </a:rPr>
              <a:t>Acceder a índice negativo en un array es memoria fuera de límites → segmentation fault inmediato.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90" name="Text 191"/>
          <p:cNvSpPr/>
          <p:nvPr/>
        </p:nvSpPr>
        <p:spPr>
          <a:xfrm>
            <a:off x="521280" y="7004160"/>
            <a:ext cx="657432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-1" strike="noStrike">
                <a:solidFill>
                  <a:srgbClr val="2563eb"/>
                </a:solidFill>
                <a:latin typeface="Calibri"/>
                <a:ea typeface="Calibri"/>
              </a:rPr>
              <a:t>→ </a:t>
            </a:r>
            <a:r>
              <a:rPr b="1" lang="en-US" sz="850" spc="-1" strike="noStrike">
                <a:solidFill>
                  <a:srgbClr val="2563eb"/>
                </a:solidFill>
                <a:latin typeface="Calibri"/>
                <a:ea typeface="Calibri"/>
              </a:rPr>
              <a:t>Con tablero[linea][j] y el bucle sobre j, se recorre la fila correcta sin salirse de los límites.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91" name="Shape 98"/>
          <p:cNvSpPr/>
          <p:nvPr/>
        </p:nvSpPr>
        <p:spPr>
          <a:xfrm>
            <a:off x="411480" y="10396440"/>
            <a:ext cx="6738840" cy="360"/>
          </a:xfrm>
          <a:prstGeom prst="line">
            <a:avLst/>
          </a:prstGeom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2" name="Text 192"/>
          <p:cNvSpPr/>
          <p:nvPr/>
        </p:nvSpPr>
        <p:spPr>
          <a:xfrm>
            <a:off x="411480" y="10415160"/>
            <a:ext cx="3369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00" spc="-1" strike="noStrike">
                <a:solidFill>
                  <a:srgbClr val="6b7280"/>
                </a:solidFill>
                <a:latin typeface="Calibri"/>
                <a:ea typeface="Calibri"/>
              </a:rPr>
              <a:t>Rush 01 — Skyscrapers</a:t>
            </a:r>
            <a:endParaRPr b="0" lang="en-US" sz="700" spc="-1" strike="noStrike">
              <a:latin typeface="Arial"/>
            </a:endParaRPr>
          </a:p>
        </p:txBody>
      </p:sp>
      <p:sp>
        <p:nvSpPr>
          <p:cNvPr id="393" name="Text 193"/>
          <p:cNvSpPr/>
          <p:nvPr/>
        </p:nvSpPr>
        <p:spPr>
          <a:xfrm>
            <a:off x="3781080" y="10415160"/>
            <a:ext cx="3369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00" spc="-1" strike="noStrike">
                <a:solidFill>
                  <a:srgbClr val="6b7280"/>
                </a:solidFill>
                <a:latin typeface="Calibri"/>
                <a:ea typeface="Calibri"/>
              </a:rPr>
              <a:t>Página 2 de 2  ·  Comparativa original vs. corregida</a:t>
            </a:r>
            <a:endParaRPr b="0" lang="en-US" sz="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2026-04-20T17:11:54Z</dcterms:created>
  <dc:creator>PptxGenJS</dc:creator>
  <dc:description/>
  <dc:language>en-US</dc:language>
  <cp:lastModifiedBy/>
  <dcterms:modified xsi:type="dcterms:W3CDTF">2026-04-20T20:22:58Z</dcterms:modified>
  <cp:revision>9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